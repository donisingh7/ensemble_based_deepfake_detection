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75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E4DFD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E4DFD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242121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192" y="7749538"/>
            <a:ext cx="1722627" cy="41147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9183" y="474345"/>
            <a:ext cx="13172033" cy="14174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50916" y="2298573"/>
            <a:ext cx="8041640" cy="4626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E4DFD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3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3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11900" y="1263141"/>
            <a:ext cx="6747509" cy="2807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Ensemble-</a:t>
            </a:r>
            <a:r>
              <a:rPr sz="4400" dirty="0"/>
              <a:t>Based</a:t>
            </a:r>
            <a:r>
              <a:rPr sz="4400" spc="-140" dirty="0"/>
              <a:t> </a:t>
            </a:r>
            <a:r>
              <a:rPr sz="4400" spc="-65" dirty="0"/>
              <a:t>Deepfake</a:t>
            </a:r>
            <a:endParaRPr sz="4400"/>
          </a:p>
          <a:p>
            <a:pPr marL="12700" marR="575945">
              <a:lnSpc>
                <a:spcPct val="104099"/>
              </a:lnSpc>
              <a:spcBef>
                <a:spcPts val="15"/>
              </a:spcBef>
            </a:pPr>
            <a:r>
              <a:rPr sz="4400" spc="-90" dirty="0"/>
              <a:t>Detection</a:t>
            </a:r>
            <a:r>
              <a:rPr sz="4400" spc="-220" dirty="0"/>
              <a:t> </a:t>
            </a:r>
            <a:r>
              <a:rPr sz="4400" dirty="0"/>
              <a:t>Using</a:t>
            </a:r>
            <a:r>
              <a:rPr sz="4400" spc="-215" dirty="0"/>
              <a:t> </a:t>
            </a:r>
            <a:r>
              <a:rPr sz="4400" spc="-10" dirty="0"/>
              <a:t>Multi- </a:t>
            </a:r>
            <a:r>
              <a:rPr sz="4400" spc="-45" dirty="0"/>
              <a:t>Backbone</a:t>
            </a:r>
            <a:r>
              <a:rPr sz="4400" spc="-290" dirty="0"/>
              <a:t> </a:t>
            </a:r>
            <a:r>
              <a:rPr sz="4400" spc="170" dirty="0"/>
              <a:t>CNNs</a:t>
            </a:r>
            <a:r>
              <a:rPr sz="4400" spc="-305" dirty="0"/>
              <a:t> </a:t>
            </a:r>
            <a:r>
              <a:rPr sz="4400" spc="-165" dirty="0"/>
              <a:t>&amp;</a:t>
            </a:r>
            <a:r>
              <a:rPr sz="4400" spc="-270" dirty="0"/>
              <a:t> </a:t>
            </a:r>
            <a:r>
              <a:rPr sz="4400" spc="-10" dirty="0"/>
              <a:t>Meta-</a:t>
            </a:r>
            <a:endParaRPr sz="4400"/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4400" spc="-10" dirty="0"/>
              <a:t>Learning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6311900" y="4545329"/>
            <a:ext cx="6446520" cy="1612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40" dirty="0">
                <a:solidFill>
                  <a:srgbClr val="E4DFDF"/>
                </a:solidFill>
                <a:latin typeface="Microsoft Sans Serif"/>
                <a:cs typeface="Microsoft Sans Serif"/>
              </a:rPr>
              <a:t>M.Tech</a:t>
            </a:r>
            <a:r>
              <a:rPr sz="1850" spc="5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Mini</a:t>
            </a:r>
            <a:r>
              <a:rPr sz="1850" spc="8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Project</a:t>
            </a:r>
            <a:r>
              <a:rPr sz="1850" spc="10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in</a:t>
            </a:r>
            <a:r>
              <a:rPr sz="1850" spc="7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Information</a:t>
            </a:r>
            <a:r>
              <a:rPr sz="1850" spc="9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Security</a:t>
            </a:r>
            <a:r>
              <a:rPr sz="1850" spc="10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&amp;</a:t>
            </a:r>
            <a:r>
              <a:rPr sz="1850" spc="7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Privacy</a:t>
            </a:r>
            <a:endParaRPr sz="1850">
              <a:latin typeface="Microsoft Sans Serif"/>
              <a:cs typeface="Microsoft Sans Serif"/>
            </a:endParaRPr>
          </a:p>
          <a:p>
            <a:pPr marL="12700" marR="5080">
              <a:lnSpc>
                <a:spcPct val="231400"/>
              </a:lnSpc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Doni</a:t>
            </a:r>
            <a:r>
              <a:rPr sz="1850" spc="-2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Singh</a:t>
            </a:r>
            <a:r>
              <a:rPr sz="1850" spc="-2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Agrawal</a:t>
            </a:r>
            <a:r>
              <a:rPr sz="1850" spc="-3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(P24IS006) |</a:t>
            </a:r>
            <a:r>
              <a:rPr sz="1850" spc="-3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40" dirty="0">
                <a:solidFill>
                  <a:srgbClr val="E4DFDF"/>
                </a:solidFill>
                <a:latin typeface="Microsoft Sans Serif"/>
                <a:cs typeface="Microsoft Sans Serif"/>
              </a:rPr>
              <a:t>Guide:</a:t>
            </a:r>
            <a:r>
              <a:rPr sz="1850" spc="-2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Dr.</a:t>
            </a:r>
            <a:r>
              <a:rPr sz="1850" spc="-3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Mukesh</a:t>
            </a:r>
            <a:r>
              <a:rPr sz="1850" spc="-30" dirty="0">
                <a:solidFill>
                  <a:srgbClr val="E4DFDF"/>
                </a:solidFill>
                <a:latin typeface="Microsoft Sans Serif"/>
                <a:cs typeface="Microsoft Sans Serif"/>
              </a:rPr>
              <a:t> A.</a:t>
            </a:r>
            <a:r>
              <a:rPr sz="1850" spc="-4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Zaveri </a:t>
            </a:r>
            <a:r>
              <a:rPr sz="1850" spc="-55" dirty="0">
                <a:solidFill>
                  <a:srgbClr val="E4DFDF"/>
                </a:solidFill>
                <a:latin typeface="Microsoft Sans Serif"/>
                <a:cs typeface="Microsoft Sans Serif"/>
              </a:rPr>
              <a:t>SVNIT</a:t>
            </a:r>
            <a:r>
              <a:rPr sz="1850" spc="-4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Surat,</a:t>
            </a:r>
            <a:r>
              <a:rPr sz="1850" spc="-4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Dept.</a:t>
            </a:r>
            <a:r>
              <a:rPr sz="1850" spc="-5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50" dirty="0">
                <a:solidFill>
                  <a:srgbClr val="E4DFDF"/>
                </a:solidFill>
                <a:latin typeface="Microsoft Sans Serif"/>
                <a:cs typeface="Microsoft Sans Serif"/>
              </a:rPr>
              <a:t>of</a:t>
            </a:r>
            <a:r>
              <a:rPr sz="1850" spc="-5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25" dirty="0">
                <a:solidFill>
                  <a:srgbClr val="E4DFDF"/>
                </a:solidFill>
                <a:latin typeface="Microsoft Sans Serif"/>
                <a:cs typeface="Microsoft Sans Serif"/>
              </a:rPr>
              <a:t>CSE</a:t>
            </a:r>
            <a:endParaRPr sz="1850">
              <a:latin typeface="Microsoft Sans Serif"/>
              <a:cs typeface="Microsoft Sans Serif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4810F5-7C20-22A1-D21C-96007C705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9656" y="7772400"/>
            <a:ext cx="2119314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9921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5195" y="3626865"/>
            <a:ext cx="27057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5" dirty="0"/>
              <a:t>Motivation</a:t>
            </a:r>
            <a:endParaRPr sz="4400"/>
          </a:p>
        </p:txBody>
      </p:sp>
      <p:grpSp>
        <p:nvGrpSpPr>
          <p:cNvPr id="4" name="object 4"/>
          <p:cNvGrpSpPr/>
          <p:nvPr/>
        </p:nvGrpSpPr>
        <p:grpSpPr>
          <a:xfrm>
            <a:off x="833920" y="4746752"/>
            <a:ext cx="546735" cy="546735"/>
            <a:chOff x="833920" y="4746752"/>
            <a:chExt cx="546735" cy="546735"/>
          </a:xfrm>
        </p:grpSpPr>
        <p:sp>
          <p:nvSpPr>
            <p:cNvPr id="5" name="object 5"/>
            <p:cNvSpPr/>
            <p:nvPr/>
          </p:nvSpPr>
          <p:spPr>
            <a:xfrm>
              <a:off x="837730" y="4750562"/>
              <a:ext cx="539115" cy="539115"/>
            </a:xfrm>
            <a:custGeom>
              <a:avLst/>
              <a:gdLst/>
              <a:ahLst/>
              <a:cxnLst/>
              <a:rect l="l" t="t" r="r" b="b"/>
              <a:pathLst>
                <a:path w="539115" h="539114">
                  <a:moveTo>
                    <a:pt x="437984" y="0"/>
                  </a:moveTo>
                  <a:lnTo>
                    <a:pt x="100533" y="0"/>
                  </a:lnTo>
                  <a:lnTo>
                    <a:pt x="61400" y="7911"/>
                  </a:lnTo>
                  <a:lnTo>
                    <a:pt x="29444" y="29479"/>
                  </a:lnTo>
                  <a:lnTo>
                    <a:pt x="7900" y="61454"/>
                  </a:lnTo>
                  <a:lnTo>
                    <a:pt x="0" y="100584"/>
                  </a:lnTo>
                  <a:lnTo>
                    <a:pt x="0" y="438023"/>
                  </a:lnTo>
                  <a:lnTo>
                    <a:pt x="7900" y="477152"/>
                  </a:lnTo>
                  <a:lnTo>
                    <a:pt x="29444" y="509127"/>
                  </a:lnTo>
                  <a:lnTo>
                    <a:pt x="61400" y="530695"/>
                  </a:lnTo>
                  <a:lnTo>
                    <a:pt x="100533" y="538607"/>
                  </a:lnTo>
                  <a:lnTo>
                    <a:pt x="437984" y="538607"/>
                  </a:lnTo>
                  <a:lnTo>
                    <a:pt x="477114" y="530695"/>
                  </a:lnTo>
                  <a:lnTo>
                    <a:pt x="509089" y="509127"/>
                  </a:lnTo>
                  <a:lnTo>
                    <a:pt x="530657" y="477152"/>
                  </a:lnTo>
                  <a:lnTo>
                    <a:pt x="538568" y="438023"/>
                  </a:lnTo>
                  <a:lnTo>
                    <a:pt x="538568" y="100584"/>
                  </a:lnTo>
                  <a:lnTo>
                    <a:pt x="530657" y="61454"/>
                  </a:lnTo>
                  <a:lnTo>
                    <a:pt x="509089" y="29479"/>
                  </a:lnTo>
                  <a:lnTo>
                    <a:pt x="477114" y="7911"/>
                  </a:lnTo>
                  <a:lnTo>
                    <a:pt x="437984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7730" y="4750562"/>
              <a:ext cx="539115" cy="539115"/>
            </a:xfrm>
            <a:custGeom>
              <a:avLst/>
              <a:gdLst/>
              <a:ahLst/>
              <a:cxnLst/>
              <a:rect l="l" t="t" r="r" b="b"/>
              <a:pathLst>
                <a:path w="539115" h="539114">
                  <a:moveTo>
                    <a:pt x="0" y="100584"/>
                  </a:moveTo>
                  <a:lnTo>
                    <a:pt x="7900" y="61454"/>
                  </a:lnTo>
                  <a:lnTo>
                    <a:pt x="29444" y="29479"/>
                  </a:lnTo>
                  <a:lnTo>
                    <a:pt x="61400" y="7911"/>
                  </a:lnTo>
                  <a:lnTo>
                    <a:pt x="100533" y="0"/>
                  </a:lnTo>
                  <a:lnTo>
                    <a:pt x="437984" y="0"/>
                  </a:lnTo>
                  <a:lnTo>
                    <a:pt x="477114" y="7911"/>
                  </a:lnTo>
                  <a:lnTo>
                    <a:pt x="509089" y="29479"/>
                  </a:lnTo>
                  <a:lnTo>
                    <a:pt x="530657" y="61454"/>
                  </a:lnTo>
                  <a:lnTo>
                    <a:pt x="538568" y="100584"/>
                  </a:lnTo>
                  <a:lnTo>
                    <a:pt x="538568" y="438023"/>
                  </a:lnTo>
                  <a:lnTo>
                    <a:pt x="530657" y="477152"/>
                  </a:lnTo>
                  <a:lnTo>
                    <a:pt x="509089" y="509127"/>
                  </a:lnTo>
                  <a:lnTo>
                    <a:pt x="477114" y="530695"/>
                  </a:lnTo>
                  <a:lnTo>
                    <a:pt x="437984" y="538607"/>
                  </a:lnTo>
                  <a:lnTo>
                    <a:pt x="100533" y="538607"/>
                  </a:lnTo>
                  <a:lnTo>
                    <a:pt x="61400" y="530695"/>
                  </a:lnTo>
                  <a:lnTo>
                    <a:pt x="29444" y="509127"/>
                  </a:lnTo>
                  <a:lnTo>
                    <a:pt x="7900" y="477152"/>
                  </a:lnTo>
                  <a:lnTo>
                    <a:pt x="0" y="438023"/>
                  </a:lnTo>
                  <a:lnTo>
                    <a:pt x="0" y="100584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7971" y="4808575"/>
              <a:ext cx="337896" cy="42242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602994" y="4804409"/>
            <a:ext cx="4192270" cy="862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0" dirty="0">
                <a:solidFill>
                  <a:srgbClr val="E4DFDF"/>
                </a:solidFill>
                <a:latin typeface="Trebuchet MS"/>
                <a:cs typeface="Trebuchet MS"/>
              </a:rPr>
              <a:t>Deepfake</a:t>
            </a:r>
            <a:r>
              <a:rPr sz="2200" b="1" spc="-10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Proliferation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1850" spc="-55" dirty="0">
                <a:solidFill>
                  <a:srgbClr val="E4DFDF"/>
                </a:solidFill>
                <a:latin typeface="Microsoft Sans Serif"/>
                <a:cs typeface="Microsoft Sans Serif"/>
              </a:rPr>
              <a:t>Easy</a:t>
            </a:r>
            <a:r>
              <a:rPr sz="1850" spc="9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generation</a:t>
            </a:r>
            <a:r>
              <a:rPr sz="1850" spc="9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with</a:t>
            </a:r>
            <a:r>
              <a:rPr sz="1850" spc="8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open-source</a:t>
            </a:r>
            <a:r>
              <a:rPr sz="1850" spc="12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tools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460995" y="4746752"/>
            <a:ext cx="546735" cy="546735"/>
            <a:chOff x="7460995" y="4746752"/>
            <a:chExt cx="546735" cy="546735"/>
          </a:xfrm>
        </p:grpSpPr>
        <p:sp>
          <p:nvSpPr>
            <p:cNvPr id="10" name="object 10"/>
            <p:cNvSpPr/>
            <p:nvPr/>
          </p:nvSpPr>
          <p:spPr>
            <a:xfrm>
              <a:off x="7464805" y="4750562"/>
              <a:ext cx="539115" cy="539115"/>
            </a:xfrm>
            <a:custGeom>
              <a:avLst/>
              <a:gdLst/>
              <a:ahLst/>
              <a:cxnLst/>
              <a:rect l="l" t="t" r="r" b="b"/>
              <a:pathLst>
                <a:path w="539115" h="539114">
                  <a:moveTo>
                    <a:pt x="438023" y="0"/>
                  </a:moveTo>
                  <a:lnTo>
                    <a:pt x="100584" y="0"/>
                  </a:lnTo>
                  <a:lnTo>
                    <a:pt x="61454" y="7911"/>
                  </a:lnTo>
                  <a:lnTo>
                    <a:pt x="29479" y="29479"/>
                  </a:lnTo>
                  <a:lnTo>
                    <a:pt x="7911" y="61454"/>
                  </a:lnTo>
                  <a:lnTo>
                    <a:pt x="0" y="100584"/>
                  </a:lnTo>
                  <a:lnTo>
                    <a:pt x="0" y="438023"/>
                  </a:lnTo>
                  <a:lnTo>
                    <a:pt x="7911" y="477152"/>
                  </a:lnTo>
                  <a:lnTo>
                    <a:pt x="29479" y="509127"/>
                  </a:lnTo>
                  <a:lnTo>
                    <a:pt x="61454" y="530695"/>
                  </a:lnTo>
                  <a:lnTo>
                    <a:pt x="100584" y="538607"/>
                  </a:lnTo>
                  <a:lnTo>
                    <a:pt x="438023" y="538607"/>
                  </a:lnTo>
                  <a:lnTo>
                    <a:pt x="477152" y="530695"/>
                  </a:lnTo>
                  <a:lnTo>
                    <a:pt x="509127" y="509127"/>
                  </a:lnTo>
                  <a:lnTo>
                    <a:pt x="530695" y="477152"/>
                  </a:lnTo>
                  <a:lnTo>
                    <a:pt x="538607" y="438023"/>
                  </a:lnTo>
                  <a:lnTo>
                    <a:pt x="538607" y="100584"/>
                  </a:lnTo>
                  <a:lnTo>
                    <a:pt x="530695" y="61454"/>
                  </a:lnTo>
                  <a:lnTo>
                    <a:pt x="509127" y="29479"/>
                  </a:lnTo>
                  <a:lnTo>
                    <a:pt x="477152" y="7911"/>
                  </a:lnTo>
                  <a:lnTo>
                    <a:pt x="438023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64805" y="4750562"/>
              <a:ext cx="539115" cy="539115"/>
            </a:xfrm>
            <a:custGeom>
              <a:avLst/>
              <a:gdLst/>
              <a:ahLst/>
              <a:cxnLst/>
              <a:rect l="l" t="t" r="r" b="b"/>
              <a:pathLst>
                <a:path w="539115" h="539114">
                  <a:moveTo>
                    <a:pt x="0" y="100584"/>
                  </a:moveTo>
                  <a:lnTo>
                    <a:pt x="7911" y="61454"/>
                  </a:lnTo>
                  <a:lnTo>
                    <a:pt x="29479" y="29479"/>
                  </a:lnTo>
                  <a:lnTo>
                    <a:pt x="61454" y="7911"/>
                  </a:lnTo>
                  <a:lnTo>
                    <a:pt x="100584" y="0"/>
                  </a:lnTo>
                  <a:lnTo>
                    <a:pt x="438023" y="0"/>
                  </a:lnTo>
                  <a:lnTo>
                    <a:pt x="477152" y="7911"/>
                  </a:lnTo>
                  <a:lnTo>
                    <a:pt x="509127" y="29479"/>
                  </a:lnTo>
                  <a:lnTo>
                    <a:pt x="530695" y="61454"/>
                  </a:lnTo>
                  <a:lnTo>
                    <a:pt x="538607" y="100584"/>
                  </a:lnTo>
                  <a:lnTo>
                    <a:pt x="538607" y="438023"/>
                  </a:lnTo>
                  <a:lnTo>
                    <a:pt x="530695" y="477152"/>
                  </a:lnTo>
                  <a:lnTo>
                    <a:pt x="509127" y="509127"/>
                  </a:lnTo>
                  <a:lnTo>
                    <a:pt x="477152" y="530695"/>
                  </a:lnTo>
                  <a:lnTo>
                    <a:pt x="438023" y="538607"/>
                  </a:lnTo>
                  <a:lnTo>
                    <a:pt x="100584" y="538607"/>
                  </a:lnTo>
                  <a:lnTo>
                    <a:pt x="61454" y="530695"/>
                  </a:lnTo>
                  <a:lnTo>
                    <a:pt x="29479" y="509127"/>
                  </a:lnTo>
                  <a:lnTo>
                    <a:pt x="7911" y="477152"/>
                  </a:lnTo>
                  <a:lnTo>
                    <a:pt x="0" y="438023"/>
                  </a:lnTo>
                  <a:lnTo>
                    <a:pt x="0" y="100584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65135" y="4808575"/>
              <a:ext cx="337896" cy="422427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833920" y="6569456"/>
            <a:ext cx="546735" cy="546100"/>
            <a:chOff x="833920" y="6569456"/>
            <a:chExt cx="546735" cy="546100"/>
          </a:xfrm>
        </p:grpSpPr>
        <p:sp>
          <p:nvSpPr>
            <p:cNvPr id="14" name="object 14"/>
            <p:cNvSpPr/>
            <p:nvPr/>
          </p:nvSpPr>
          <p:spPr>
            <a:xfrm>
              <a:off x="837730" y="6573266"/>
              <a:ext cx="539115" cy="538480"/>
            </a:xfrm>
            <a:custGeom>
              <a:avLst/>
              <a:gdLst/>
              <a:ahLst/>
              <a:cxnLst/>
              <a:rect l="l" t="t" r="r" b="b"/>
              <a:pathLst>
                <a:path w="539115" h="538479">
                  <a:moveTo>
                    <a:pt x="437984" y="0"/>
                  </a:moveTo>
                  <a:lnTo>
                    <a:pt x="100533" y="0"/>
                  </a:lnTo>
                  <a:lnTo>
                    <a:pt x="61400" y="7891"/>
                  </a:lnTo>
                  <a:lnTo>
                    <a:pt x="29444" y="29416"/>
                  </a:lnTo>
                  <a:lnTo>
                    <a:pt x="7900" y="61346"/>
                  </a:lnTo>
                  <a:lnTo>
                    <a:pt x="0" y="100456"/>
                  </a:lnTo>
                  <a:lnTo>
                    <a:pt x="0" y="437921"/>
                  </a:lnTo>
                  <a:lnTo>
                    <a:pt x="7900" y="477054"/>
                  </a:lnTo>
                  <a:lnTo>
                    <a:pt x="29444" y="509009"/>
                  </a:lnTo>
                  <a:lnTo>
                    <a:pt x="61400" y="530554"/>
                  </a:lnTo>
                  <a:lnTo>
                    <a:pt x="100533" y="538454"/>
                  </a:lnTo>
                  <a:lnTo>
                    <a:pt x="437984" y="538454"/>
                  </a:lnTo>
                  <a:lnTo>
                    <a:pt x="477114" y="530554"/>
                  </a:lnTo>
                  <a:lnTo>
                    <a:pt x="509089" y="509009"/>
                  </a:lnTo>
                  <a:lnTo>
                    <a:pt x="530657" y="477054"/>
                  </a:lnTo>
                  <a:lnTo>
                    <a:pt x="538568" y="437921"/>
                  </a:lnTo>
                  <a:lnTo>
                    <a:pt x="538568" y="100456"/>
                  </a:lnTo>
                  <a:lnTo>
                    <a:pt x="530657" y="61346"/>
                  </a:lnTo>
                  <a:lnTo>
                    <a:pt x="509089" y="29416"/>
                  </a:lnTo>
                  <a:lnTo>
                    <a:pt x="477114" y="7891"/>
                  </a:lnTo>
                  <a:lnTo>
                    <a:pt x="437984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7730" y="6573266"/>
              <a:ext cx="539115" cy="538480"/>
            </a:xfrm>
            <a:custGeom>
              <a:avLst/>
              <a:gdLst/>
              <a:ahLst/>
              <a:cxnLst/>
              <a:rect l="l" t="t" r="r" b="b"/>
              <a:pathLst>
                <a:path w="539115" h="538479">
                  <a:moveTo>
                    <a:pt x="0" y="100456"/>
                  </a:moveTo>
                  <a:lnTo>
                    <a:pt x="7900" y="61346"/>
                  </a:lnTo>
                  <a:lnTo>
                    <a:pt x="29444" y="29416"/>
                  </a:lnTo>
                  <a:lnTo>
                    <a:pt x="61400" y="7891"/>
                  </a:lnTo>
                  <a:lnTo>
                    <a:pt x="100533" y="0"/>
                  </a:lnTo>
                  <a:lnTo>
                    <a:pt x="437984" y="0"/>
                  </a:lnTo>
                  <a:lnTo>
                    <a:pt x="477114" y="7891"/>
                  </a:lnTo>
                  <a:lnTo>
                    <a:pt x="509089" y="29416"/>
                  </a:lnTo>
                  <a:lnTo>
                    <a:pt x="530657" y="61346"/>
                  </a:lnTo>
                  <a:lnTo>
                    <a:pt x="538568" y="100456"/>
                  </a:lnTo>
                  <a:lnTo>
                    <a:pt x="538568" y="437921"/>
                  </a:lnTo>
                  <a:lnTo>
                    <a:pt x="530657" y="477054"/>
                  </a:lnTo>
                  <a:lnTo>
                    <a:pt x="509089" y="509009"/>
                  </a:lnTo>
                  <a:lnTo>
                    <a:pt x="477114" y="530554"/>
                  </a:lnTo>
                  <a:lnTo>
                    <a:pt x="437984" y="538454"/>
                  </a:lnTo>
                  <a:lnTo>
                    <a:pt x="100533" y="538454"/>
                  </a:lnTo>
                  <a:lnTo>
                    <a:pt x="61400" y="530554"/>
                  </a:lnTo>
                  <a:lnTo>
                    <a:pt x="29444" y="509009"/>
                  </a:lnTo>
                  <a:lnTo>
                    <a:pt x="7900" y="477054"/>
                  </a:lnTo>
                  <a:lnTo>
                    <a:pt x="0" y="437921"/>
                  </a:lnTo>
                  <a:lnTo>
                    <a:pt x="0" y="100456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7971" y="6631191"/>
              <a:ext cx="337896" cy="42242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602994" y="6627368"/>
            <a:ext cx="4806315" cy="862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E4DFDF"/>
                </a:solidFill>
                <a:latin typeface="Trebuchet MS"/>
                <a:cs typeface="Trebuchet MS"/>
              </a:rPr>
              <a:t>Real-</a:t>
            </a:r>
            <a:r>
              <a:rPr sz="2200" b="1" spc="-85" dirty="0">
                <a:solidFill>
                  <a:srgbClr val="E4DFDF"/>
                </a:solidFill>
                <a:latin typeface="Trebuchet MS"/>
                <a:cs typeface="Trebuchet MS"/>
              </a:rPr>
              <a:t>world</a:t>
            </a:r>
            <a:r>
              <a:rPr sz="2200" b="1" spc="-14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Challenges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Videos</a:t>
            </a:r>
            <a:r>
              <a:rPr sz="1850" spc="1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undergo</a:t>
            </a:r>
            <a:r>
              <a:rPr sz="1850" spc="1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compression,</a:t>
            </a:r>
            <a:r>
              <a:rPr sz="1850" spc="4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blur,</a:t>
            </a:r>
            <a:r>
              <a:rPr sz="1850" spc="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color</a:t>
            </a:r>
            <a:r>
              <a:rPr sz="1850" spc="3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70" dirty="0">
                <a:solidFill>
                  <a:srgbClr val="E4DFDF"/>
                </a:solidFill>
                <a:latin typeface="Microsoft Sans Serif"/>
                <a:cs typeface="Microsoft Sans Serif"/>
              </a:rPr>
              <a:t>jitter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460995" y="6569456"/>
            <a:ext cx="546735" cy="546100"/>
            <a:chOff x="7460995" y="6569456"/>
            <a:chExt cx="546735" cy="546100"/>
          </a:xfrm>
        </p:grpSpPr>
        <p:sp>
          <p:nvSpPr>
            <p:cNvPr id="19" name="object 19"/>
            <p:cNvSpPr/>
            <p:nvPr/>
          </p:nvSpPr>
          <p:spPr>
            <a:xfrm>
              <a:off x="7464805" y="6573266"/>
              <a:ext cx="539115" cy="538480"/>
            </a:xfrm>
            <a:custGeom>
              <a:avLst/>
              <a:gdLst/>
              <a:ahLst/>
              <a:cxnLst/>
              <a:rect l="l" t="t" r="r" b="b"/>
              <a:pathLst>
                <a:path w="539115" h="538479">
                  <a:moveTo>
                    <a:pt x="438023" y="0"/>
                  </a:moveTo>
                  <a:lnTo>
                    <a:pt x="100584" y="0"/>
                  </a:lnTo>
                  <a:lnTo>
                    <a:pt x="61454" y="7891"/>
                  </a:lnTo>
                  <a:lnTo>
                    <a:pt x="29479" y="29416"/>
                  </a:lnTo>
                  <a:lnTo>
                    <a:pt x="7911" y="61346"/>
                  </a:lnTo>
                  <a:lnTo>
                    <a:pt x="0" y="100456"/>
                  </a:lnTo>
                  <a:lnTo>
                    <a:pt x="0" y="437921"/>
                  </a:lnTo>
                  <a:lnTo>
                    <a:pt x="7911" y="477054"/>
                  </a:lnTo>
                  <a:lnTo>
                    <a:pt x="29479" y="509009"/>
                  </a:lnTo>
                  <a:lnTo>
                    <a:pt x="61454" y="530554"/>
                  </a:lnTo>
                  <a:lnTo>
                    <a:pt x="100584" y="538454"/>
                  </a:lnTo>
                  <a:lnTo>
                    <a:pt x="438023" y="538454"/>
                  </a:lnTo>
                  <a:lnTo>
                    <a:pt x="477152" y="530554"/>
                  </a:lnTo>
                  <a:lnTo>
                    <a:pt x="509127" y="509009"/>
                  </a:lnTo>
                  <a:lnTo>
                    <a:pt x="530695" y="477054"/>
                  </a:lnTo>
                  <a:lnTo>
                    <a:pt x="538607" y="437921"/>
                  </a:lnTo>
                  <a:lnTo>
                    <a:pt x="538607" y="100456"/>
                  </a:lnTo>
                  <a:lnTo>
                    <a:pt x="530695" y="61346"/>
                  </a:lnTo>
                  <a:lnTo>
                    <a:pt x="509127" y="29416"/>
                  </a:lnTo>
                  <a:lnTo>
                    <a:pt x="477152" y="7891"/>
                  </a:lnTo>
                  <a:lnTo>
                    <a:pt x="438023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464805" y="6573266"/>
              <a:ext cx="539115" cy="538480"/>
            </a:xfrm>
            <a:custGeom>
              <a:avLst/>
              <a:gdLst/>
              <a:ahLst/>
              <a:cxnLst/>
              <a:rect l="l" t="t" r="r" b="b"/>
              <a:pathLst>
                <a:path w="539115" h="538479">
                  <a:moveTo>
                    <a:pt x="0" y="100456"/>
                  </a:moveTo>
                  <a:lnTo>
                    <a:pt x="7911" y="61346"/>
                  </a:lnTo>
                  <a:lnTo>
                    <a:pt x="29479" y="29416"/>
                  </a:lnTo>
                  <a:lnTo>
                    <a:pt x="61454" y="7891"/>
                  </a:lnTo>
                  <a:lnTo>
                    <a:pt x="100584" y="0"/>
                  </a:lnTo>
                  <a:lnTo>
                    <a:pt x="438023" y="0"/>
                  </a:lnTo>
                  <a:lnTo>
                    <a:pt x="477152" y="7891"/>
                  </a:lnTo>
                  <a:lnTo>
                    <a:pt x="509127" y="29416"/>
                  </a:lnTo>
                  <a:lnTo>
                    <a:pt x="530695" y="61346"/>
                  </a:lnTo>
                  <a:lnTo>
                    <a:pt x="538607" y="100456"/>
                  </a:lnTo>
                  <a:lnTo>
                    <a:pt x="538607" y="437921"/>
                  </a:lnTo>
                  <a:lnTo>
                    <a:pt x="530695" y="477054"/>
                  </a:lnTo>
                  <a:lnTo>
                    <a:pt x="509127" y="509009"/>
                  </a:lnTo>
                  <a:lnTo>
                    <a:pt x="477152" y="530554"/>
                  </a:lnTo>
                  <a:lnTo>
                    <a:pt x="438023" y="538454"/>
                  </a:lnTo>
                  <a:lnTo>
                    <a:pt x="100584" y="538454"/>
                  </a:lnTo>
                  <a:lnTo>
                    <a:pt x="61454" y="530554"/>
                  </a:lnTo>
                  <a:lnTo>
                    <a:pt x="29479" y="509009"/>
                  </a:lnTo>
                  <a:lnTo>
                    <a:pt x="7911" y="477054"/>
                  </a:lnTo>
                  <a:lnTo>
                    <a:pt x="0" y="437921"/>
                  </a:lnTo>
                  <a:lnTo>
                    <a:pt x="0" y="100456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65135" y="6631191"/>
              <a:ext cx="337896" cy="422427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8230869" y="4804409"/>
            <a:ext cx="5397500" cy="2685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30" dirty="0">
                <a:solidFill>
                  <a:srgbClr val="E4DFDF"/>
                </a:solidFill>
                <a:latin typeface="Trebuchet MS"/>
                <a:cs typeface="Trebuchet MS"/>
              </a:rPr>
              <a:t>Model</a:t>
            </a:r>
            <a:r>
              <a:rPr sz="2200" b="1" spc="-13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Limitations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37300"/>
              </a:lnSpc>
              <a:spcBef>
                <a:spcPts val="855"/>
              </a:spcBef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Single-model</a:t>
            </a:r>
            <a:r>
              <a:rPr sz="1850" spc="4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detectors</a:t>
            </a:r>
            <a:r>
              <a:rPr sz="1850" spc="3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lose</a:t>
            </a:r>
            <a:r>
              <a:rPr sz="1850" spc="4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70" dirty="0">
                <a:solidFill>
                  <a:srgbClr val="E4DFDF"/>
                </a:solidFill>
                <a:latin typeface="Microsoft Sans Serif"/>
                <a:cs typeface="Microsoft Sans Serif"/>
              </a:rPr>
              <a:t>30pp</a:t>
            </a:r>
            <a:r>
              <a:rPr sz="1850" spc="3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accuracy</a:t>
            </a:r>
            <a:r>
              <a:rPr sz="1850" spc="2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on</a:t>
            </a:r>
            <a:r>
              <a:rPr sz="1850" spc="3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25" dirty="0">
                <a:solidFill>
                  <a:srgbClr val="E4DFDF"/>
                </a:solidFill>
                <a:latin typeface="Microsoft Sans Serif"/>
                <a:cs typeface="Microsoft Sans Serif"/>
              </a:rPr>
              <a:t>new </a:t>
            </a:r>
            <a:r>
              <a:rPr sz="1850" spc="-20" dirty="0">
                <a:solidFill>
                  <a:srgbClr val="E4DFDF"/>
                </a:solidFill>
                <a:latin typeface="Microsoft Sans Serif"/>
                <a:cs typeface="Microsoft Sans Serif"/>
              </a:rPr>
              <a:t>data</a:t>
            </a:r>
            <a:endParaRPr sz="18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8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200" b="1" spc="-35" dirty="0">
                <a:solidFill>
                  <a:srgbClr val="E4DFDF"/>
                </a:solidFill>
                <a:latin typeface="Trebuchet MS"/>
                <a:cs typeface="Trebuchet MS"/>
              </a:rPr>
              <a:t>Ensemble</a:t>
            </a:r>
            <a:r>
              <a:rPr sz="2200" b="1" spc="-13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Advantage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Mitigates</a:t>
            </a:r>
            <a:r>
              <a:rPr sz="1850" spc="7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individual</a:t>
            </a:r>
            <a:r>
              <a:rPr sz="1850" spc="5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bias</a:t>
            </a:r>
            <a:r>
              <a:rPr sz="1850" spc="6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patterns</a:t>
            </a:r>
            <a:endParaRPr sz="1850">
              <a:latin typeface="Microsoft Sans Serif"/>
              <a:cs typeface="Microsoft Sans Serif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B18B482-D460-9242-47A0-E44B2F4689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99656" y="7772400"/>
            <a:ext cx="2119314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959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00"/>
              </a:spcBef>
            </a:pPr>
            <a:r>
              <a:rPr sz="4400" spc="-125" dirty="0"/>
              <a:t>Project</a:t>
            </a:r>
            <a:r>
              <a:rPr sz="4400" spc="-290" dirty="0"/>
              <a:t> </a:t>
            </a:r>
            <a:r>
              <a:rPr sz="4400" spc="-90" dirty="0"/>
              <a:t>Objectives</a:t>
            </a:r>
            <a:endParaRPr sz="44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730" y="1773808"/>
            <a:ext cx="1196809" cy="57449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81250" y="1983993"/>
            <a:ext cx="5408930" cy="5172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5" dirty="0">
                <a:solidFill>
                  <a:srgbClr val="E4DFDF"/>
                </a:solidFill>
                <a:latin typeface="Trebuchet MS"/>
                <a:cs typeface="Trebuchet MS"/>
              </a:rPr>
              <a:t>Fine-</a:t>
            </a:r>
            <a:r>
              <a:rPr sz="2200" b="1" spc="-75" dirty="0">
                <a:solidFill>
                  <a:srgbClr val="E4DFDF"/>
                </a:solidFill>
                <a:latin typeface="Trebuchet MS"/>
                <a:cs typeface="Trebuchet MS"/>
              </a:rPr>
              <a:t>tune</a:t>
            </a:r>
            <a:r>
              <a:rPr sz="2200" b="1" spc="-114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spc="65" dirty="0">
                <a:solidFill>
                  <a:srgbClr val="E4DFDF"/>
                </a:solidFill>
                <a:latin typeface="Trebuchet MS"/>
                <a:cs typeface="Trebuchet MS"/>
              </a:rPr>
              <a:t>CNNs</a:t>
            </a:r>
            <a:endParaRPr sz="22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Five</a:t>
            </a:r>
            <a:r>
              <a:rPr sz="1850" spc="-6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backbones</a:t>
            </a:r>
            <a:r>
              <a:rPr sz="1850" spc="-7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on</a:t>
            </a:r>
            <a:r>
              <a:rPr sz="1850" spc="-5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FaceForensics++</a:t>
            </a:r>
            <a:endParaRPr sz="18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8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200" b="1" spc="-40" dirty="0">
                <a:solidFill>
                  <a:srgbClr val="E4DFDF"/>
                </a:solidFill>
                <a:latin typeface="Trebuchet MS"/>
                <a:cs typeface="Trebuchet MS"/>
              </a:rPr>
              <a:t>Build</a:t>
            </a:r>
            <a:r>
              <a:rPr sz="2200" b="1" spc="-13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Ensembles</a:t>
            </a:r>
            <a:endParaRPr sz="22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1850" spc="50" dirty="0">
                <a:solidFill>
                  <a:srgbClr val="E4DFDF"/>
                </a:solidFill>
                <a:latin typeface="Microsoft Sans Serif"/>
                <a:cs typeface="Microsoft Sans Serif"/>
              </a:rPr>
              <a:t>Soft-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voting</a:t>
            </a:r>
            <a:r>
              <a:rPr sz="1850" spc="5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baseline</a:t>
            </a:r>
            <a:r>
              <a:rPr sz="1850" spc="3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and</a:t>
            </a:r>
            <a:r>
              <a:rPr sz="1850" spc="3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stacking</a:t>
            </a:r>
            <a:r>
              <a:rPr sz="1850" spc="3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framework</a:t>
            </a:r>
            <a:endParaRPr sz="18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8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200" b="1" spc="-40" dirty="0">
                <a:solidFill>
                  <a:srgbClr val="E4DFDF"/>
                </a:solidFill>
                <a:latin typeface="Trebuchet MS"/>
                <a:cs typeface="Trebuchet MS"/>
              </a:rPr>
              <a:t>Compare</a:t>
            </a:r>
            <a:r>
              <a:rPr sz="2200" b="1" spc="-3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dirty="0">
                <a:solidFill>
                  <a:srgbClr val="E4DFDF"/>
                </a:solidFill>
                <a:latin typeface="Trebuchet MS"/>
                <a:cs typeface="Trebuchet MS"/>
              </a:rPr>
              <a:t>Meta-</a:t>
            </a: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learners</a:t>
            </a:r>
            <a:endParaRPr sz="22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Logistic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20" dirty="0">
                <a:solidFill>
                  <a:srgbClr val="E4DFDF"/>
                </a:solidFill>
                <a:latin typeface="Microsoft Sans Serif"/>
                <a:cs typeface="Microsoft Sans Serif"/>
              </a:rPr>
              <a:t>Regression,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20" dirty="0">
                <a:solidFill>
                  <a:srgbClr val="E4DFDF"/>
                </a:solidFill>
                <a:latin typeface="Microsoft Sans Serif"/>
                <a:cs typeface="Microsoft Sans Serif"/>
              </a:rPr>
              <a:t>Random</a:t>
            </a:r>
            <a:r>
              <a:rPr sz="1850" spc="-2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Forest,</a:t>
            </a:r>
            <a:r>
              <a:rPr sz="1850" spc="-1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40" dirty="0" err="1">
                <a:solidFill>
                  <a:srgbClr val="E4DFDF"/>
                </a:solidFill>
                <a:latin typeface="Microsoft Sans Serif"/>
                <a:cs typeface="Microsoft Sans Serif"/>
              </a:rPr>
              <a:t>XGBoost</a:t>
            </a:r>
            <a:r>
              <a:rPr lang="en-US" sz="1850" spc="-40" dirty="0">
                <a:solidFill>
                  <a:srgbClr val="E4DFDF"/>
                </a:solidFill>
                <a:latin typeface="Microsoft Sans Serif"/>
                <a:cs typeface="Microsoft Sans Serif"/>
              </a:rPr>
              <a:t>,</a:t>
            </a:r>
            <a:r>
              <a:rPr lang="en-US" sz="1850" spc="-1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lang="en-US" sz="1850" spc="-25" dirty="0">
                <a:solidFill>
                  <a:srgbClr val="E4DFDF"/>
                </a:solidFill>
                <a:latin typeface="Microsoft Sans Serif"/>
                <a:cs typeface="Microsoft Sans Serif"/>
              </a:rPr>
              <a:t>MLP</a:t>
            </a:r>
            <a:endParaRPr sz="18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8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200" b="1" spc="-30" dirty="0">
                <a:solidFill>
                  <a:srgbClr val="E4DFDF"/>
                </a:solidFill>
                <a:latin typeface="Trebuchet MS"/>
                <a:cs typeface="Trebuchet MS"/>
              </a:rPr>
              <a:t>Release</a:t>
            </a:r>
            <a:r>
              <a:rPr sz="2200" b="1" spc="-12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Resources</a:t>
            </a:r>
            <a:endParaRPr sz="22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Reproducible</a:t>
            </a:r>
            <a:r>
              <a:rPr sz="1850" spc="6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scripts</a:t>
            </a:r>
            <a:r>
              <a:rPr sz="1850" spc="5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&amp;</a:t>
            </a:r>
            <a:r>
              <a:rPr sz="1850" spc="3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checkpoints</a:t>
            </a:r>
            <a:endParaRPr sz="18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94589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12088" y="3543680"/>
            <a:ext cx="6005830" cy="689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350" dirty="0"/>
              <a:t>Real-</a:t>
            </a:r>
            <a:r>
              <a:rPr sz="4350" spc="-140" dirty="0"/>
              <a:t>World</a:t>
            </a:r>
            <a:r>
              <a:rPr sz="4350" spc="-270" dirty="0"/>
              <a:t> </a:t>
            </a:r>
            <a:r>
              <a:rPr sz="4350" spc="-45" dirty="0"/>
              <a:t>Applications</a:t>
            </a:r>
            <a:endParaRPr sz="4350"/>
          </a:p>
        </p:txBody>
      </p:sp>
      <p:grpSp>
        <p:nvGrpSpPr>
          <p:cNvPr id="4" name="object 4"/>
          <p:cNvGrpSpPr/>
          <p:nvPr/>
        </p:nvGrpSpPr>
        <p:grpSpPr>
          <a:xfrm>
            <a:off x="820940" y="4637913"/>
            <a:ext cx="6380480" cy="1359535"/>
            <a:chOff x="820940" y="4637913"/>
            <a:chExt cx="6380480" cy="1359535"/>
          </a:xfrm>
        </p:grpSpPr>
        <p:sp>
          <p:nvSpPr>
            <p:cNvPr id="5" name="object 5"/>
            <p:cNvSpPr/>
            <p:nvPr/>
          </p:nvSpPr>
          <p:spPr>
            <a:xfrm>
              <a:off x="824750" y="4641723"/>
              <a:ext cx="6372860" cy="1351915"/>
            </a:xfrm>
            <a:custGeom>
              <a:avLst/>
              <a:gdLst/>
              <a:ahLst/>
              <a:cxnLst/>
              <a:rect l="l" t="t" r="r" b="b"/>
              <a:pathLst>
                <a:path w="6372859" h="1351914">
                  <a:moveTo>
                    <a:pt x="6273660" y="0"/>
                  </a:moveTo>
                  <a:lnTo>
                    <a:pt x="98983" y="0"/>
                  </a:lnTo>
                  <a:lnTo>
                    <a:pt x="60452" y="7780"/>
                  </a:lnTo>
                  <a:lnTo>
                    <a:pt x="28989" y="29003"/>
                  </a:lnTo>
                  <a:lnTo>
                    <a:pt x="7777" y="60489"/>
                  </a:lnTo>
                  <a:lnTo>
                    <a:pt x="0" y="99060"/>
                  </a:lnTo>
                  <a:lnTo>
                    <a:pt x="0" y="1252474"/>
                  </a:lnTo>
                  <a:lnTo>
                    <a:pt x="7777" y="1290970"/>
                  </a:lnTo>
                  <a:lnTo>
                    <a:pt x="28989" y="1322419"/>
                  </a:lnTo>
                  <a:lnTo>
                    <a:pt x="60452" y="1343628"/>
                  </a:lnTo>
                  <a:lnTo>
                    <a:pt x="98983" y="1351407"/>
                  </a:lnTo>
                  <a:lnTo>
                    <a:pt x="6273660" y="1351407"/>
                  </a:lnTo>
                  <a:lnTo>
                    <a:pt x="6312230" y="1343628"/>
                  </a:lnTo>
                  <a:lnTo>
                    <a:pt x="6343716" y="1322419"/>
                  </a:lnTo>
                  <a:lnTo>
                    <a:pt x="6364939" y="1290970"/>
                  </a:lnTo>
                  <a:lnTo>
                    <a:pt x="6372720" y="1252474"/>
                  </a:lnTo>
                  <a:lnTo>
                    <a:pt x="6372720" y="99060"/>
                  </a:lnTo>
                  <a:lnTo>
                    <a:pt x="6364939" y="60489"/>
                  </a:lnTo>
                  <a:lnTo>
                    <a:pt x="6343716" y="29003"/>
                  </a:lnTo>
                  <a:lnTo>
                    <a:pt x="6312230" y="7780"/>
                  </a:lnTo>
                  <a:lnTo>
                    <a:pt x="6273660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4750" y="4641723"/>
              <a:ext cx="6372860" cy="1351915"/>
            </a:xfrm>
            <a:custGeom>
              <a:avLst/>
              <a:gdLst/>
              <a:ahLst/>
              <a:cxnLst/>
              <a:rect l="l" t="t" r="r" b="b"/>
              <a:pathLst>
                <a:path w="6372859" h="1351914">
                  <a:moveTo>
                    <a:pt x="0" y="99060"/>
                  </a:moveTo>
                  <a:lnTo>
                    <a:pt x="7777" y="60489"/>
                  </a:lnTo>
                  <a:lnTo>
                    <a:pt x="28989" y="29003"/>
                  </a:lnTo>
                  <a:lnTo>
                    <a:pt x="60452" y="7780"/>
                  </a:lnTo>
                  <a:lnTo>
                    <a:pt x="98983" y="0"/>
                  </a:lnTo>
                  <a:lnTo>
                    <a:pt x="6273660" y="0"/>
                  </a:lnTo>
                  <a:lnTo>
                    <a:pt x="6312230" y="7780"/>
                  </a:lnTo>
                  <a:lnTo>
                    <a:pt x="6343716" y="29003"/>
                  </a:lnTo>
                  <a:lnTo>
                    <a:pt x="6364939" y="60489"/>
                  </a:lnTo>
                  <a:lnTo>
                    <a:pt x="6372720" y="99060"/>
                  </a:lnTo>
                  <a:lnTo>
                    <a:pt x="6372720" y="1252474"/>
                  </a:lnTo>
                  <a:lnTo>
                    <a:pt x="6364939" y="1290970"/>
                  </a:lnTo>
                  <a:lnTo>
                    <a:pt x="6343716" y="1322419"/>
                  </a:lnTo>
                  <a:lnTo>
                    <a:pt x="6312230" y="1343628"/>
                  </a:lnTo>
                  <a:lnTo>
                    <a:pt x="6273660" y="1351407"/>
                  </a:lnTo>
                  <a:lnTo>
                    <a:pt x="98983" y="1351407"/>
                  </a:lnTo>
                  <a:lnTo>
                    <a:pt x="60452" y="1343628"/>
                  </a:lnTo>
                  <a:lnTo>
                    <a:pt x="28989" y="1322419"/>
                  </a:lnTo>
                  <a:lnTo>
                    <a:pt x="7777" y="1290970"/>
                  </a:lnTo>
                  <a:lnTo>
                    <a:pt x="0" y="1252474"/>
                  </a:lnTo>
                  <a:lnTo>
                    <a:pt x="0" y="99060"/>
                  </a:lnTo>
                  <a:close/>
                </a:path>
              </a:pathLst>
            </a:custGeom>
            <a:ln w="7619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55319" y="4851908"/>
            <a:ext cx="5101590" cy="859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b="1" spc="-10" dirty="0">
                <a:solidFill>
                  <a:srgbClr val="E4DFDF"/>
                </a:solidFill>
                <a:latin typeface="Trebuchet MS"/>
                <a:cs typeface="Trebuchet MS"/>
              </a:rPr>
              <a:t>Social</a:t>
            </a:r>
            <a:r>
              <a:rPr sz="2150" b="1" spc="-15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150" b="1" spc="-10" dirty="0">
                <a:solidFill>
                  <a:srgbClr val="E4DFDF"/>
                </a:solidFill>
                <a:latin typeface="Trebuchet MS"/>
                <a:cs typeface="Trebuchet MS"/>
              </a:rPr>
              <a:t>Media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64"/>
              </a:spcBef>
            </a:pPr>
            <a:r>
              <a:rPr sz="1850" spc="60" dirty="0">
                <a:solidFill>
                  <a:srgbClr val="E4DFDF"/>
                </a:solidFill>
                <a:latin typeface="Microsoft Sans Serif"/>
                <a:cs typeface="Microsoft Sans Serif"/>
              </a:rPr>
              <a:t>Auto-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flagging</a:t>
            </a:r>
            <a:r>
              <a:rPr sz="1850" spc="8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manipulated</a:t>
            </a:r>
            <a:r>
              <a:rPr sz="1850" spc="11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videos</a:t>
            </a:r>
            <a:r>
              <a:rPr sz="1850" spc="9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before</a:t>
            </a:r>
            <a:r>
              <a:rPr sz="1850" spc="10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upload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429245" y="4637913"/>
            <a:ext cx="6380480" cy="1359535"/>
            <a:chOff x="7429245" y="4637913"/>
            <a:chExt cx="6380480" cy="1359535"/>
          </a:xfrm>
        </p:grpSpPr>
        <p:sp>
          <p:nvSpPr>
            <p:cNvPr id="9" name="object 9"/>
            <p:cNvSpPr/>
            <p:nvPr/>
          </p:nvSpPr>
          <p:spPr>
            <a:xfrm>
              <a:off x="7433055" y="4641723"/>
              <a:ext cx="6372860" cy="1351915"/>
            </a:xfrm>
            <a:custGeom>
              <a:avLst/>
              <a:gdLst/>
              <a:ahLst/>
              <a:cxnLst/>
              <a:rect l="l" t="t" r="r" b="b"/>
              <a:pathLst>
                <a:path w="6372859" h="1351914">
                  <a:moveTo>
                    <a:pt x="6273673" y="0"/>
                  </a:moveTo>
                  <a:lnTo>
                    <a:pt x="99060" y="0"/>
                  </a:lnTo>
                  <a:lnTo>
                    <a:pt x="60489" y="7780"/>
                  </a:lnTo>
                  <a:lnTo>
                    <a:pt x="29003" y="29003"/>
                  </a:lnTo>
                  <a:lnTo>
                    <a:pt x="7780" y="60489"/>
                  </a:lnTo>
                  <a:lnTo>
                    <a:pt x="0" y="99060"/>
                  </a:lnTo>
                  <a:lnTo>
                    <a:pt x="0" y="1252474"/>
                  </a:lnTo>
                  <a:lnTo>
                    <a:pt x="7780" y="1290970"/>
                  </a:lnTo>
                  <a:lnTo>
                    <a:pt x="29003" y="1322419"/>
                  </a:lnTo>
                  <a:lnTo>
                    <a:pt x="60489" y="1343628"/>
                  </a:lnTo>
                  <a:lnTo>
                    <a:pt x="99060" y="1351407"/>
                  </a:lnTo>
                  <a:lnTo>
                    <a:pt x="6273673" y="1351407"/>
                  </a:lnTo>
                  <a:lnTo>
                    <a:pt x="6312243" y="1343628"/>
                  </a:lnTo>
                  <a:lnTo>
                    <a:pt x="6343729" y="1322419"/>
                  </a:lnTo>
                  <a:lnTo>
                    <a:pt x="6364952" y="1290970"/>
                  </a:lnTo>
                  <a:lnTo>
                    <a:pt x="6372733" y="1252474"/>
                  </a:lnTo>
                  <a:lnTo>
                    <a:pt x="6372733" y="99060"/>
                  </a:lnTo>
                  <a:lnTo>
                    <a:pt x="6364952" y="60489"/>
                  </a:lnTo>
                  <a:lnTo>
                    <a:pt x="6343729" y="29003"/>
                  </a:lnTo>
                  <a:lnTo>
                    <a:pt x="6312243" y="7780"/>
                  </a:lnTo>
                  <a:lnTo>
                    <a:pt x="6273673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33055" y="4641723"/>
              <a:ext cx="6372860" cy="1351915"/>
            </a:xfrm>
            <a:custGeom>
              <a:avLst/>
              <a:gdLst/>
              <a:ahLst/>
              <a:cxnLst/>
              <a:rect l="l" t="t" r="r" b="b"/>
              <a:pathLst>
                <a:path w="6372859" h="1351914">
                  <a:moveTo>
                    <a:pt x="0" y="99060"/>
                  </a:moveTo>
                  <a:lnTo>
                    <a:pt x="7780" y="60489"/>
                  </a:lnTo>
                  <a:lnTo>
                    <a:pt x="29003" y="29003"/>
                  </a:lnTo>
                  <a:lnTo>
                    <a:pt x="60489" y="7780"/>
                  </a:lnTo>
                  <a:lnTo>
                    <a:pt x="99060" y="0"/>
                  </a:lnTo>
                  <a:lnTo>
                    <a:pt x="6273673" y="0"/>
                  </a:lnTo>
                  <a:lnTo>
                    <a:pt x="6312243" y="7780"/>
                  </a:lnTo>
                  <a:lnTo>
                    <a:pt x="6343729" y="29003"/>
                  </a:lnTo>
                  <a:lnTo>
                    <a:pt x="6364952" y="60489"/>
                  </a:lnTo>
                  <a:lnTo>
                    <a:pt x="6372733" y="99060"/>
                  </a:lnTo>
                  <a:lnTo>
                    <a:pt x="6372733" y="1252474"/>
                  </a:lnTo>
                  <a:lnTo>
                    <a:pt x="6364952" y="1290970"/>
                  </a:lnTo>
                  <a:lnTo>
                    <a:pt x="6343729" y="1322419"/>
                  </a:lnTo>
                  <a:lnTo>
                    <a:pt x="6312243" y="1343628"/>
                  </a:lnTo>
                  <a:lnTo>
                    <a:pt x="6273673" y="1351407"/>
                  </a:lnTo>
                  <a:lnTo>
                    <a:pt x="99060" y="1351407"/>
                  </a:lnTo>
                  <a:lnTo>
                    <a:pt x="60489" y="1343628"/>
                  </a:lnTo>
                  <a:lnTo>
                    <a:pt x="29003" y="1322419"/>
                  </a:lnTo>
                  <a:lnTo>
                    <a:pt x="7780" y="1290970"/>
                  </a:lnTo>
                  <a:lnTo>
                    <a:pt x="0" y="1252474"/>
                  </a:lnTo>
                  <a:lnTo>
                    <a:pt x="0" y="99060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664322" y="4851908"/>
            <a:ext cx="3689985" cy="859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b="1" spc="-20" dirty="0">
                <a:solidFill>
                  <a:srgbClr val="E4DFDF"/>
                </a:solidFill>
                <a:latin typeface="Trebuchet MS"/>
                <a:cs typeface="Trebuchet MS"/>
              </a:rPr>
              <a:t>Digital</a:t>
            </a:r>
            <a:r>
              <a:rPr sz="2150" b="1" spc="-13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150" b="1" spc="-10" dirty="0">
                <a:solidFill>
                  <a:srgbClr val="E4DFDF"/>
                </a:solidFill>
                <a:latin typeface="Trebuchet MS"/>
                <a:cs typeface="Trebuchet MS"/>
              </a:rPr>
              <a:t>Forensics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64"/>
              </a:spcBef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Validating</a:t>
            </a:r>
            <a:r>
              <a:rPr sz="1850" spc="1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video</a:t>
            </a:r>
            <a:r>
              <a:rPr sz="1850" spc="2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evidence</a:t>
            </a:r>
            <a:r>
              <a:rPr sz="1850" spc="1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in</a:t>
            </a:r>
            <a:r>
              <a:rPr sz="1850" spc="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courts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20940" y="6224904"/>
            <a:ext cx="6380480" cy="1359535"/>
            <a:chOff x="820940" y="6224904"/>
            <a:chExt cx="6380480" cy="1359535"/>
          </a:xfrm>
        </p:grpSpPr>
        <p:sp>
          <p:nvSpPr>
            <p:cNvPr id="13" name="object 13"/>
            <p:cNvSpPr/>
            <p:nvPr/>
          </p:nvSpPr>
          <p:spPr>
            <a:xfrm>
              <a:off x="824750" y="6228714"/>
              <a:ext cx="6372860" cy="1351915"/>
            </a:xfrm>
            <a:custGeom>
              <a:avLst/>
              <a:gdLst/>
              <a:ahLst/>
              <a:cxnLst/>
              <a:rect l="l" t="t" r="r" b="b"/>
              <a:pathLst>
                <a:path w="6372859" h="1351915">
                  <a:moveTo>
                    <a:pt x="6273660" y="0"/>
                  </a:moveTo>
                  <a:lnTo>
                    <a:pt x="98983" y="0"/>
                  </a:lnTo>
                  <a:lnTo>
                    <a:pt x="60452" y="7780"/>
                  </a:lnTo>
                  <a:lnTo>
                    <a:pt x="28989" y="29003"/>
                  </a:lnTo>
                  <a:lnTo>
                    <a:pt x="7777" y="60489"/>
                  </a:lnTo>
                  <a:lnTo>
                    <a:pt x="0" y="99060"/>
                  </a:lnTo>
                  <a:lnTo>
                    <a:pt x="0" y="1252410"/>
                  </a:lnTo>
                  <a:lnTo>
                    <a:pt x="7777" y="1290942"/>
                  </a:lnTo>
                  <a:lnTo>
                    <a:pt x="28989" y="1322404"/>
                  </a:lnTo>
                  <a:lnTo>
                    <a:pt x="60452" y="1343616"/>
                  </a:lnTo>
                  <a:lnTo>
                    <a:pt x="98983" y="1351394"/>
                  </a:lnTo>
                  <a:lnTo>
                    <a:pt x="6273660" y="1351394"/>
                  </a:lnTo>
                  <a:lnTo>
                    <a:pt x="6312230" y="1343616"/>
                  </a:lnTo>
                  <a:lnTo>
                    <a:pt x="6343716" y="1322404"/>
                  </a:lnTo>
                  <a:lnTo>
                    <a:pt x="6364939" y="1290942"/>
                  </a:lnTo>
                  <a:lnTo>
                    <a:pt x="6372720" y="1252410"/>
                  </a:lnTo>
                  <a:lnTo>
                    <a:pt x="6372720" y="99060"/>
                  </a:lnTo>
                  <a:lnTo>
                    <a:pt x="6364939" y="60489"/>
                  </a:lnTo>
                  <a:lnTo>
                    <a:pt x="6343716" y="29003"/>
                  </a:lnTo>
                  <a:lnTo>
                    <a:pt x="6312230" y="7780"/>
                  </a:lnTo>
                  <a:lnTo>
                    <a:pt x="6273660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24750" y="6228714"/>
              <a:ext cx="6372860" cy="1351915"/>
            </a:xfrm>
            <a:custGeom>
              <a:avLst/>
              <a:gdLst/>
              <a:ahLst/>
              <a:cxnLst/>
              <a:rect l="l" t="t" r="r" b="b"/>
              <a:pathLst>
                <a:path w="6372859" h="1351915">
                  <a:moveTo>
                    <a:pt x="0" y="99060"/>
                  </a:moveTo>
                  <a:lnTo>
                    <a:pt x="7777" y="60489"/>
                  </a:lnTo>
                  <a:lnTo>
                    <a:pt x="28989" y="29003"/>
                  </a:lnTo>
                  <a:lnTo>
                    <a:pt x="60452" y="7780"/>
                  </a:lnTo>
                  <a:lnTo>
                    <a:pt x="98983" y="0"/>
                  </a:lnTo>
                  <a:lnTo>
                    <a:pt x="6273660" y="0"/>
                  </a:lnTo>
                  <a:lnTo>
                    <a:pt x="6312230" y="7780"/>
                  </a:lnTo>
                  <a:lnTo>
                    <a:pt x="6343716" y="29003"/>
                  </a:lnTo>
                  <a:lnTo>
                    <a:pt x="6364939" y="60489"/>
                  </a:lnTo>
                  <a:lnTo>
                    <a:pt x="6372720" y="99060"/>
                  </a:lnTo>
                  <a:lnTo>
                    <a:pt x="6372720" y="1252410"/>
                  </a:lnTo>
                  <a:lnTo>
                    <a:pt x="6364939" y="1290942"/>
                  </a:lnTo>
                  <a:lnTo>
                    <a:pt x="6343716" y="1322404"/>
                  </a:lnTo>
                  <a:lnTo>
                    <a:pt x="6312230" y="1343616"/>
                  </a:lnTo>
                  <a:lnTo>
                    <a:pt x="6273660" y="1351394"/>
                  </a:lnTo>
                  <a:lnTo>
                    <a:pt x="98983" y="1351394"/>
                  </a:lnTo>
                  <a:lnTo>
                    <a:pt x="60452" y="1343616"/>
                  </a:lnTo>
                  <a:lnTo>
                    <a:pt x="28989" y="1322404"/>
                  </a:lnTo>
                  <a:lnTo>
                    <a:pt x="7777" y="1290942"/>
                  </a:lnTo>
                  <a:lnTo>
                    <a:pt x="0" y="1252410"/>
                  </a:lnTo>
                  <a:lnTo>
                    <a:pt x="0" y="99060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55319" y="6439280"/>
            <a:ext cx="3583940" cy="859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b="1" spc="-45" dirty="0">
                <a:solidFill>
                  <a:srgbClr val="E4DFDF"/>
                </a:solidFill>
                <a:latin typeface="Trebuchet MS"/>
                <a:cs typeface="Trebuchet MS"/>
              </a:rPr>
              <a:t>Electoral</a:t>
            </a:r>
            <a:r>
              <a:rPr sz="2150" b="1" spc="-13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150" b="1" spc="-10" dirty="0">
                <a:solidFill>
                  <a:srgbClr val="E4DFDF"/>
                </a:solidFill>
                <a:latin typeface="Trebuchet MS"/>
                <a:cs typeface="Trebuchet MS"/>
              </a:rPr>
              <a:t>Security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Detecting</a:t>
            </a:r>
            <a:r>
              <a:rPr sz="1850" spc="4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deepfake</a:t>
            </a:r>
            <a:r>
              <a:rPr sz="1850" spc="4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campaign</a:t>
            </a:r>
            <a:r>
              <a:rPr sz="1850" spc="3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25" dirty="0">
                <a:solidFill>
                  <a:srgbClr val="E4DFDF"/>
                </a:solidFill>
                <a:latin typeface="Microsoft Sans Serif"/>
                <a:cs typeface="Microsoft Sans Serif"/>
              </a:rPr>
              <a:t>ads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429245" y="6224904"/>
            <a:ext cx="6380480" cy="1359535"/>
            <a:chOff x="7429245" y="6224904"/>
            <a:chExt cx="6380480" cy="1359535"/>
          </a:xfrm>
        </p:grpSpPr>
        <p:sp>
          <p:nvSpPr>
            <p:cNvPr id="17" name="object 17"/>
            <p:cNvSpPr/>
            <p:nvPr/>
          </p:nvSpPr>
          <p:spPr>
            <a:xfrm>
              <a:off x="7433055" y="6228714"/>
              <a:ext cx="6372860" cy="1351915"/>
            </a:xfrm>
            <a:custGeom>
              <a:avLst/>
              <a:gdLst/>
              <a:ahLst/>
              <a:cxnLst/>
              <a:rect l="l" t="t" r="r" b="b"/>
              <a:pathLst>
                <a:path w="6372859" h="1351915">
                  <a:moveTo>
                    <a:pt x="6273673" y="0"/>
                  </a:moveTo>
                  <a:lnTo>
                    <a:pt x="99060" y="0"/>
                  </a:lnTo>
                  <a:lnTo>
                    <a:pt x="60489" y="7780"/>
                  </a:lnTo>
                  <a:lnTo>
                    <a:pt x="29003" y="29003"/>
                  </a:lnTo>
                  <a:lnTo>
                    <a:pt x="7780" y="60489"/>
                  </a:lnTo>
                  <a:lnTo>
                    <a:pt x="0" y="99060"/>
                  </a:lnTo>
                  <a:lnTo>
                    <a:pt x="0" y="1252410"/>
                  </a:lnTo>
                  <a:lnTo>
                    <a:pt x="7780" y="1290942"/>
                  </a:lnTo>
                  <a:lnTo>
                    <a:pt x="29003" y="1322404"/>
                  </a:lnTo>
                  <a:lnTo>
                    <a:pt x="60489" y="1343616"/>
                  </a:lnTo>
                  <a:lnTo>
                    <a:pt x="99060" y="1351394"/>
                  </a:lnTo>
                  <a:lnTo>
                    <a:pt x="6273673" y="1351394"/>
                  </a:lnTo>
                  <a:lnTo>
                    <a:pt x="6312243" y="1343616"/>
                  </a:lnTo>
                  <a:lnTo>
                    <a:pt x="6343729" y="1322404"/>
                  </a:lnTo>
                  <a:lnTo>
                    <a:pt x="6364952" y="1290942"/>
                  </a:lnTo>
                  <a:lnTo>
                    <a:pt x="6372733" y="1252410"/>
                  </a:lnTo>
                  <a:lnTo>
                    <a:pt x="6372733" y="99060"/>
                  </a:lnTo>
                  <a:lnTo>
                    <a:pt x="6364952" y="60489"/>
                  </a:lnTo>
                  <a:lnTo>
                    <a:pt x="6343729" y="29003"/>
                  </a:lnTo>
                  <a:lnTo>
                    <a:pt x="6312243" y="7780"/>
                  </a:lnTo>
                  <a:lnTo>
                    <a:pt x="6273673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33055" y="6228714"/>
              <a:ext cx="6372860" cy="1351915"/>
            </a:xfrm>
            <a:custGeom>
              <a:avLst/>
              <a:gdLst/>
              <a:ahLst/>
              <a:cxnLst/>
              <a:rect l="l" t="t" r="r" b="b"/>
              <a:pathLst>
                <a:path w="6372859" h="1351915">
                  <a:moveTo>
                    <a:pt x="0" y="99060"/>
                  </a:moveTo>
                  <a:lnTo>
                    <a:pt x="7780" y="60489"/>
                  </a:lnTo>
                  <a:lnTo>
                    <a:pt x="29003" y="29003"/>
                  </a:lnTo>
                  <a:lnTo>
                    <a:pt x="60489" y="7780"/>
                  </a:lnTo>
                  <a:lnTo>
                    <a:pt x="99060" y="0"/>
                  </a:lnTo>
                  <a:lnTo>
                    <a:pt x="6273673" y="0"/>
                  </a:lnTo>
                  <a:lnTo>
                    <a:pt x="6312243" y="7780"/>
                  </a:lnTo>
                  <a:lnTo>
                    <a:pt x="6343729" y="29003"/>
                  </a:lnTo>
                  <a:lnTo>
                    <a:pt x="6364952" y="60489"/>
                  </a:lnTo>
                  <a:lnTo>
                    <a:pt x="6372733" y="99060"/>
                  </a:lnTo>
                  <a:lnTo>
                    <a:pt x="6372733" y="1252410"/>
                  </a:lnTo>
                  <a:lnTo>
                    <a:pt x="6364952" y="1290942"/>
                  </a:lnTo>
                  <a:lnTo>
                    <a:pt x="6343729" y="1322404"/>
                  </a:lnTo>
                  <a:lnTo>
                    <a:pt x="6312243" y="1343616"/>
                  </a:lnTo>
                  <a:lnTo>
                    <a:pt x="6273673" y="1351394"/>
                  </a:lnTo>
                  <a:lnTo>
                    <a:pt x="99060" y="1351394"/>
                  </a:lnTo>
                  <a:lnTo>
                    <a:pt x="60489" y="1343616"/>
                  </a:lnTo>
                  <a:lnTo>
                    <a:pt x="29003" y="1322404"/>
                  </a:lnTo>
                  <a:lnTo>
                    <a:pt x="7780" y="1290942"/>
                  </a:lnTo>
                  <a:lnTo>
                    <a:pt x="0" y="1252410"/>
                  </a:lnTo>
                  <a:lnTo>
                    <a:pt x="0" y="99060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664322" y="6439280"/>
            <a:ext cx="5250180" cy="859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b="1" spc="-65" dirty="0">
                <a:solidFill>
                  <a:srgbClr val="E4DFDF"/>
                </a:solidFill>
                <a:latin typeface="Trebuchet MS"/>
                <a:cs typeface="Trebuchet MS"/>
              </a:rPr>
              <a:t>Finance</a:t>
            </a:r>
            <a:r>
              <a:rPr sz="2150" b="1" spc="-10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150" b="1" spc="-20" dirty="0">
                <a:solidFill>
                  <a:srgbClr val="E4DFDF"/>
                </a:solidFill>
                <a:latin typeface="Trebuchet MS"/>
                <a:cs typeface="Trebuchet MS"/>
              </a:rPr>
              <a:t>(KYC)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Preventing</a:t>
            </a:r>
            <a:r>
              <a:rPr sz="1850" spc="9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face-</a:t>
            </a:r>
            <a:r>
              <a:rPr sz="1850" spc="-20" dirty="0">
                <a:solidFill>
                  <a:srgbClr val="E4DFDF"/>
                </a:solidFill>
                <a:latin typeface="Microsoft Sans Serif"/>
                <a:cs typeface="Microsoft Sans Serif"/>
              </a:rPr>
              <a:t>swap</a:t>
            </a:r>
            <a:r>
              <a:rPr sz="1850" spc="12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fraud</a:t>
            </a:r>
            <a:r>
              <a:rPr sz="1850" spc="8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in</a:t>
            </a:r>
            <a:r>
              <a:rPr sz="1850" spc="7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remote</a:t>
            </a:r>
            <a:r>
              <a:rPr sz="1850" spc="12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onboarding</a:t>
            </a:r>
            <a:endParaRPr sz="1850">
              <a:latin typeface="Microsoft Sans Serif"/>
              <a:cs typeface="Microsoft Sans Serif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D6A05C3-0441-E216-C275-D6053E1B6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9656" y="7772400"/>
            <a:ext cx="2119314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73151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58404" y="891032"/>
            <a:ext cx="5579745" cy="627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50" spc="-20" dirty="0"/>
              <a:t>Dataset</a:t>
            </a:r>
            <a:r>
              <a:rPr sz="3950" spc="-270" dirty="0"/>
              <a:t> </a:t>
            </a:r>
            <a:r>
              <a:rPr sz="3950" spc="-145" dirty="0"/>
              <a:t>&amp;</a:t>
            </a:r>
            <a:r>
              <a:rPr sz="3950" spc="-245" dirty="0"/>
              <a:t> </a:t>
            </a:r>
            <a:r>
              <a:rPr sz="3950" spc="-10" dirty="0"/>
              <a:t>Preprocessing</a:t>
            </a:r>
            <a:endParaRPr sz="3950"/>
          </a:p>
        </p:txBody>
      </p:sp>
      <p:grpSp>
        <p:nvGrpSpPr>
          <p:cNvPr id="4" name="object 4"/>
          <p:cNvGrpSpPr/>
          <p:nvPr/>
        </p:nvGrpSpPr>
        <p:grpSpPr>
          <a:xfrm>
            <a:off x="8066658" y="2527680"/>
            <a:ext cx="1106170" cy="4763770"/>
            <a:chOff x="8066658" y="2527680"/>
            <a:chExt cx="1106170" cy="4763770"/>
          </a:xfrm>
        </p:grpSpPr>
        <p:sp>
          <p:nvSpPr>
            <p:cNvPr id="5" name="object 5"/>
            <p:cNvSpPr/>
            <p:nvPr/>
          </p:nvSpPr>
          <p:spPr>
            <a:xfrm>
              <a:off x="8313166" y="2531490"/>
              <a:ext cx="859790" cy="4759960"/>
            </a:xfrm>
            <a:custGeom>
              <a:avLst/>
              <a:gdLst/>
              <a:ahLst/>
              <a:cxnLst/>
              <a:rect l="l" t="t" r="r" b="b"/>
              <a:pathLst>
                <a:path w="859790" h="4759959">
                  <a:moveTo>
                    <a:pt x="30480" y="6858"/>
                  </a:moveTo>
                  <a:lnTo>
                    <a:pt x="23622" y="0"/>
                  </a:lnTo>
                  <a:lnTo>
                    <a:pt x="6858" y="0"/>
                  </a:lnTo>
                  <a:lnTo>
                    <a:pt x="0" y="6858"/>
                  </a:lnTo>
                  <a:lnTo>
                    <a:pt x="0" y="15240"/>
                  </a:lnTo>
                  <a:lnTo>
                    <a:pt x="0" y="4752721"/>
                  </a:lnTo>
                  <a:lnTo>
                    <a:pt x="6858" y="4759541"/>
                  </a:lnTo>
                  <a:lnTo>
                    <a:pt x="23622" y="4759541"/>
                  </a:lnTo>
                  <a:lnTo>
                    <a:pt x="30480" y="4752721"/>
                  </a:lnTo>
                  <a:lnTo>
                    <a:pt x="30480" y="6858"/>
                  </a:lnTo>
                  <a:close/>
                </a:path>
                <a:path w="859790" h="4759959">
                  <a:moveTo>
                    <a:pt x="859663" y="234315"/>
                  </a:moveTo>
                  <a:lnTo>
                    <a:pt x="852805" y="227584"/>
                  </a:lnTo>
                  <a:lnTo>
                    <a:pt x="219075" y="227584"/>
                  </a:lnTo>
                  <a:lnTo>
                    <a:pt x="212344" y="234315"/>
                  </a:lnTo>
                  <a:lnTo>
                    <a:pt x="212344" y="242824"/>
                  </a:lnTo>
                  <a:lnTo>
                    <a:pt x="212344" y="251206"/>
                  </a:lnTo>
                  <a:lnTo>
                    <a:pt x="219075" y="258064"/>
                  </a:lnTo>
                  <a:lnTo>
                    <a:pt x="852805" y="258064"/>
                  </a:lnTo>
                  <a:lnTo>
                    <a:pt x="859663" y="251206"/>
                  </a:lnTo>
                  <a:lnTo>
                    <a:pt x="859663" y="234315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70468" y="2531490"/>
              <a:ext cx="485775" cy="485775"/>
            </a:xfrm>
            <a:custGeom>
              <a:avLst/>
              <a:gdLst/>
              <a:ahLst/>
              <a:cxnLst/>
              <a:rect l="l" t="t" r="r" b="b"/>
              <a:pathLst>
                <a:path w="485775" h="485775">
                  <a:moveTo>
                    <a:pt x="394842" y="0"/>
                  </a:moveTo>
                  <a:lnTo>
                    <a:pt x="90550" y="0"/>
                  </a:lnTo>
                  <a:lnTo>
                    <a:pt x="55292" y="7131"/>
                  </a:lnTo>
                  <a:lnTo>
                    <a:pt x="26511" y="26574"/>
                  </a:lnTo>
                  <a:lnTo>
                    <a:pt x="7111" y="55399"/>
                  </a:lnTo>
                  <a:lnTo>
                    <a:pt x="0" y="90678"/>
                  </a:lnTo>
                  <a:lnTo>
                    <a:pt x="0" y="394970"/>
                  </a:lnTo>
                  <a:lnTo>
                    <a:pt x="7111" y="430228"/>
                  </a:lnTo>
                  <a:lnTo>
                    <a:pt x="26511" y="459009"/>
                  </a:lnTo>
                  <a:lnTo>
                    <a:pt x="55292" y="478409"/>
                  </a:lnTo>
                  <a:lnTo>
                    <a:pt x="90550" y="485521"/>
                  </a:lnTo>
                  <a:lnTo>
                    <a:pt x="394842" y="485521"/>
                  </a:lnTo>
                  <a:lnTo>
                    <a:pt x="430121" y="478409"/>
                  </a:lnTo>
                  <a:lnTo>
                    <a:pt x="458946" y="459009"/>
                  </a:lnTo>
                  <a:lnTo>
                    <a:pt x="478389" y="430228"/>
                  </a:lnTo>
                  <a:lnTo>
                    <a:pt x="485521" y="394970"/>
                  </a:lnTo>
                  <a:lnTo>
                    <a:pt x="485521" y="90678"/>
                  </a:lnTo>
                  <a:lnTo>
                    <a:pt x="478389" y="55399"/>
                  </a:lnTo>
                  <a:lnTo>
                    <a:pt x="458946" y="26574"/>
                  </a:lnTo>
                  <a:lnTo>
                    <a:pt x="430121" y="7131"/>
                  </a:lnTo>
                  <a:lnTo>
                    <a:pt x="394842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70468" y="2531490"/>
              <a:ext cx="485775" cy="485775"/>
            </a:xfrm>
            <a:custGeom>
              <a:avLst/>
              <a:gdLst/>
              <a:ahLst/>
              <a:cxnLst/>
              <a:rect l="l" t="t" r="r" b="b"/>
              <a:pathLst>
                <a:path w="485775" h="485775">
                  <a:moveTo>
                    <a:pt x="0" y="90678"/>
                  </a:moveTo>
                  <a:lnTo>
                    <a:pt x="7111" y="55399"/>
                  </a:lnTo>
                  <a:lnTo>
                    <a:pt x="26511" y="26574"/>
                  </a:lnTo>
                  <a:lnTo>
                    <a:pt x="55292" y="7131"/>
                  </a:lnTo>
                  <a:lnTo>
                    <a:pt x="90550" y="0"/>
                  </a:lnTo>
                  <a:lnTo>
                    <a:pt x="394842" y="0"/>
                  </a:lnTo>
                  <a:lnTo>
                    <a:pt x="430121" y="7131"/>
                  </a:lnTo>
                  <a:lnTo>
                    <a:pt x="458946" y="26574"/>
                  </a:lnTo>
                  <a:lnTo>
                    <a:pt x="478389" y="55399"/>
                  </a:lnTo>
                  <a:lnTo>
                    <a:pt x="485521" y="90678"/>
                  </a:lnTo>
                  <a:lnTo>
                    <a:pt x="485521" y="394970"/>
                  </a:lnTo>
                  <a:lnTo>
                    <a:pt x="478389" y="430228"/>
                  </a:lnTo>
                  <a:lnTo>
                    <a:pt x="458946" y="459009"/>
                  </a:lnTo>
                  <a:lnTo>
                    <a:pt x="430121" y="478409"/>
                  </a:lnTo>
                  <a:lnTo>
                    <a:pt x="394842" y="485521"/>
                  </a:lnTo>
                  <a:lnTo>
                    <a:pt x="90550" y="485521"/>
                  </a:lnTo>
                  <a:lnTo>
                    <a:pt x="55292" y="478409"/>
                  </a:lnTo>
                  <a:lnTo>
                    <a:pt x="26511" y="459009"/>
                  </a:lnTo>
                  <a:lnTo>
                    <a:pt x="7111" y="430228"/>
                  </a:lnTo>
                  <a:lnTo>
                    <a:pt x="0" y="394970"/>
                  </a:lnTo>
                  <a:lnTo>
                    <a:pt x="0" y="90678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60892" y="2583929"/>
              <a:ext cx="304558" cy="38075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525509" y="4056761"/>
              <a:ext cx="647700" cy="30480"/>
            </a:xfrm>
            <a:custGeom>
              <a:avLst/>
              <a:gdLst/>
              <a:ahLst/>
              <a:cxnLst/>
              <a:rect l="l" t="t" r="r" b="b"/>
              <a:pathLst>
                <a:path w="647700" h="30479">
                  <a:moveTo>
                    <a:pt x="640461" y="0"/>
                  </a:moveTo>
                  <a:lnTo>
                    <a:pt x="6731" y="0"/>
                  </a:lnTo>
                  <a:lnTo>
                    <a:pt x="0" y="6858"/>
                  </a:lnTo>
                  <a:lnTo>
                    <a:pt x="0" y="15239"/>
                  </a:lnTo>
                  <a:lnTo>
                    <a:pt x="0" y="23749"/>
                  </a:lnTo>
                  <a:lnTo>
                    <a:pt x="6731" y="30479"/>
                  </a:lnTo>
                  <a:lnTo>
                    <a:pt x="640461" y="30479"/>
                  </a:lnTo>
                  <a:lnTo>
                    <a:pt x="647319" y="23749"/>
                  </a:lnTo>
                  <a:lnTo>
                    <a:pt x="647319" y="6858"/>
                  </a:lnTo>
                  <a:lnTo>
                    <a:pt x="640461" y="0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70468" y="3829303"/>
              <a:ext cx="485775" cy="485775"/>
            </a:xfrm>
            <a:custGeom>
              <a:avLst/>
              <a:gdLst/>
              <a:ahLst/>
              <a:cxnLst/>
              <a:rect l="l" t="t" r="r" b="b"/>
              <a:pathLst>
                <a:path w="485775" h="485775">
                  <a:moveTo>
                    <a:pt x="394842" y="0"/>
                  </a:moveTo>
                  <a:lnTo>
                    <a:pt x="90550" y="0"/>
                  </a:lnTo>
                  <a:lnTo>
                    <a:pt x="55292" y="7113"/>
                  </a:lnTo>
                  <a:lnTo>
                    <a:pt x="26511" y="26527"/>
                  </a:lnTo>
                  <a:lnTo>
                    <a:pt x="7111" y="55346"/>
                  </a:lnTo>
                  <a:lnTo>
                    <a:pt x="0" y="90678"/>
                  </a:lnTo>
                  <a:lnTo>
                    <a:pt x="0" y="394843"/>
                  </a:lnTo>
                  <a:lnTo>
                    <a:pt x="7111" y="430121"/>
                  </a:lnTo>
                  <a:lnTo>
                    <a:pt x="26511" y="458946"/>
                  </a:lnTo>
                  <a:lnTo>
                    <a:pt x="55292" y="478389"/>
                  </a:lnTo>
                  <a:lnTo>
                    <a:pt x="90550" y="485521"/>
                  </a:lnTo>
                  <a:lnTo>
                    <a:pt x="394842" y="485521"/>
                  </a:lnTo>
                  <a:lnTo>
                    <a:pt x="430121" y="478389"/>
                  </a:lnTo>
                  <a:lnTo>
                    <a:pt x="458946" y="458946"/>
                  </a:lnTo>
                  <a:lnTo>
                    <a:pt x="478389" y="430121"/>
                  </a:lnTo>
                  <a:lnTo>
                    <a:pt x="485521" y="394843"/>
                  </a:lnTo>
                  <a:lnTo>
                    <a:pt x="485521" y="90678"/>
                  </a:lnTo>
                  <a:lnTo>
                    <a:pt x="478389" y="55346"/>
                  </a:lnTo>
                  <a:lnTo>
                    <a:pt x="458946" y="26527"/>
                  </a:lnTo>
                  <a:lnTo>
                    <a:pt x="430121" y="7113"/>
                  </a:lnTo>
                  <a:lnTo>
                    <a:pt x="394842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70468" y="3829303"/>
              <a:ext cx="485775" cy="485775"/>
            </a:xfrm>
            <a:custGeom>
              <a:avLst/>
              <a:gdLst/>
              <a:ahLst/>
              <a:cxnLst/>
              <a:rect l="l" t="t" r="r" b="b"/>
              <a:pathLst>
                <a:path w="485775" h="485775">
                  <a:moveTo>
                    <a:pt x="0" y="90678"/>
                  </a:moveTo>
                  <a:lnTo>
                    <a:pt x="7111" y="55346"/>
                  </a:lnTo>
                  <a:lnTo>
                    <a:pt x="26511" y="26527"/>
                  </a:lnTo>
                  <a:lnTo>
                    <a:pt x="55292" y="7113"/>
                  </a:lnTo>
                  <a:lnTo>
                    <a:pt x="90550" y="0"/>
                  </a:lnTo>
                  <a:lnTo>
                    <a:pt x="394842" y="0"/>
                  </a:lnTo>
                  <a:lnTo>
                    <a:pt x="430121" y="7113"/>
                  </a:lnTo>
                  <a:lnTo>
                    <a:pt x="458946" y="26527"/>
                  </a:lnTo>
                  <a:lnTo>
                    <a:pt x="478389" y="55346"/>
                  </a:lnTo>
                  <a:lnTo>
                    <a:pt x="485521" y="90678"/>
                  </a:lnTo>
                  <a:lnTo>
                    <a:pt x="485521" y="394843"/>
                  </a:lnTo>
                  <a:lnTo>
                    <a:pt x="478389" y="430121"/>
                  </a:lnTo>
                  <a:lnTo>
                    <a:pt x="458946" y="458946"/>
                  </a:lnTo>
                  <a:lnTo>
                    <a:pt x="430121" y="478389"/>
                  </a:lnTo>
                  <a:lnTo>
                    <a:pt x="394842" y="485521"/>
                  </a:lnTo>
                  <a:lnTo>
                    <a:pt x="90550" y="485521"/>
                  </a:lnTo>
                  <a:lnTo>
                    <a:pt x="55292" y="478389"/>
                  </a:lnTo>
                  <a:lnTo>
                    <a:pt x="26511" y="458946"/>
                  </a:lnTo>
                  <a:lnTo>
                    <a:pt x="7111" y="430121"/>
                  </a:lnTo>
                  <a:lnTo>
                    <a:pt x="0" y="394843"/>
                  </a:lnTo>
                  <a:lnTo>
                    <a:pt x="0" y="90678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60892" y="3881615"/>
              <a:ext cx="304558" cy="38075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525509" y="5354573"/>
              <a:ext cx="647700" cy="30480"/>
            </a:xfrm>
            <a:custGeom>
              <a:avLst/>
              <a:gdLst/>
              <a:ahLst/>
              <a:cxnLst/>
              <a:rect l="l" t="t" r="r" b="b"/>
              <a:pathLst>
                <a:path w="647700" h="30479">
                  <a:moveTo>
                    <a:pt x="640461" y="0"/>
                  </a:moveTo>
                  <a:lnTo>
                    <a:pt x="6731" y="0"/>
                  </a:lnTo>
                  <a:lnTo>
                    <a:pt x="0" y="6857"/>
                  </a:lnTo>
                  <a:lnTo>
                    <a:pt x="0" y="15239"/>
                  </a:lnTo>
                  <a:lnTo>
                    <a:pt x="0" y="23621"/>
                  </a:lnTo>
                  <a:lnTo>
                    <a:pt x="6731" y="30480"/>
                  </a:lnTo>
                  <a:lnTo>
                    <a:pt x="640461" y="30480"/>
                  </a:lnTo>
                  <a:lnTo>
                    <a:pt x="647319" y="23621"/>
                  </a:lnTo>
                  <a:lnTo>
                    <a:pt x="647319" y="6857"/>
                  </a:lnTo>
                  <a:lnTo>
                    <a:pt x="640461" y="0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70468" y="5127116"/>
              <a:ext cx="485775" cy="485775"/>
            </a:xfrm>
            <a:custGeom>
              <a:avLst/>
              <a:gdLst/>
              <a:ahLst/>
              <a:cxnLst/>
              <a:rect l="l" t="t" r="r" b="b"/>
              <a:pathLst>
                <a:path w="485775" h="485775">
                  <a:moveTo>
                    <a:pt x="394842" y="0"/>
                  </a:moveTo>
                  <a:lnTo>
                    <a:pt x="90550" y="0"/>
                  </a:lnTo>
                  <a:lnTo>
                    <a:pt x="55292" y="7111"/>
                  </a:lnTo>
                  <a:lnTo>
                    <a:pt x="26511" y="26511"/>
                  </a:lnTo>
                  <a:lnTo>
                    <a:pt x="7111" y="55292"/>
                  </a:lnTo>
                  <a:lnTo>
                    <a:pt x="0" y="90550"/>
                  </a:lnTo>
                  <a:lnTo>
                    <a:pt x="0" y="394842"/>
                  </a:lnTo>
                  <a:lnTo>
                    <a:pt x="7111" y="430121"/>
                  </a:lnTo>
                  <a:lnTo>
                    <a:pt x="26511" y="458946"/>
                  </a:lnTo>
                  <a:lnTo>
                    <a:pt x="55292" y="478389"/>
                  </a:lnTo>
                  <a:lnTo>
                    <a:pt x="90550" y="485520"/>
                  </a:lnTo>
                  <a:lnTo>
                    <a:pt x="394842" y="485520"/>
                  </a:lnTo>
                  <a:lnTo>
                    <a:pt x="430121" y="478389"/>
                  </a:lnTo>
                  <a:lnTo>
                    <a:pt x="458946" y="458946"/>
                  </a:lnTo>
                  <a:lnTo>
                    <a:pt x="478389" y="430121"/>
                  </a:lnTo>
                  <a:lnTo>
                    <a:pt x="485521" y="394842"/>
                  </a:lnTo>
                  <a:lnTo>
                    <a:pt x="485521" y="90550"/>
                  </a:lnTo>
                  <a:lnTo>
                    <a:pt x="478389" y="55292"/>
                  </a:lnTo>
                  <a:lnTo>
                    <a:pt x="458946" y="26511"/>
                  </a:lnTo>
                  <a:lnTo>
                    <a:pt x="430121" y="7111"/>
                  </a:lnTo>
                  <a:lnTo>
                    <a:pt x="394842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70468" y="5127116"/>
              <a:ext cx="485775" cy="485775"/>
            </a:xfrm>
            <a:custGeom>
              <a:avLst/>
              <a:gdLst/>
              <a:ahLst/>
              <a:cxnLst/>
              <a:rect l="l" t="t" r="r" b="b"/>
              <a:pathLst>
                <a:path w="485775" h="485775">
                  <a:moveTo>
                    <a:pt x="0" y="90550"/>
                  </a:moveTo>
                  <a:lnTo>
                    <a:pt x="7111" y="55292"/>
                  </a:lnTo>
                  <a:lnTo>
                    <a:pt x="26511" y="26511"/>
                  </a:lnTo>
                  <a:lnTo>
                    <a:pt x="55292" y="7111"/>
                  </a:lnTo>
                  <a:lnTo>
                    <a:pt x="90550" y="0"/>
                  </a:lnTo>
                  <a:lnTo>
                    <a:pt x="394842" y="0"/>
                  </a:lnTo>
                  <a:lnTo>
                    <a:pt x="430121" y="7111"/>
                  </a:lnTo>
                  <a:lnTo>
                    <a:pt x="458946" y="26511"/>
                  </a:lnTo>
                  <a:lnTo>
                    <a:pt x="478389" y="55292"/>
                  </a:lnTo>
                  <a:lnTo>
                    <a:pt x="485521" y="90550"/>
                  </a:lnTo>
                  <a:lnTo>
                    <a:pt x="485521" y="394842"/>
                  </a:lnTo>
                  <a:lnTo>
                    <a:pt x="478389" y="430121"/>
                  </a:lnTo>
                  <a:lnTo>
                    <a:pt x="458946" y="458946"/>
                  </a:lnTo>
                  <a:lnTo>
                    <a:pt x="430121" y="478389"/>
                  </a:lnTo>
                  <a:lnTo>
                    <a:pt x="394842" y="485520"/>
                  </a:lnTo>
                  <a:lnTo>
                    <a:pt x="90550" y="485520"/>
                  </a:lnTo>
                  <a:lnTo>
                    <a:pt x="55292" y="478389"/>
                  </a:lnTo>
                  <a:lnTo>
                    <a:pt x="26511" y="458946"/>
                  </a:lnTo>
                  <a:lnTo>
                    <a:pt x="7111" y="430121"/>
                  </a:lnTo>
                  <a:lnTo>
                    <a:pt x="0" y="394842"/>
                  </a:lnTo>
                  <a:lnTo>
                    <a:pt x="0" y="90550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60892" y="5179428"/>
              <a:ext cx="304558" cy="38075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525509" y="6652386"/>
              <a:ext cx="647700" cy="30480"/>
            </a:xfrm>
            <a:custGeom>
              <a:avLst/>
              <a:gdLst/>
              <a:ahLst/>
              <a:cxnLst/>
              <a:rect l="l" t="t" r="r" b="b"/>
              <a:pathLst>
                <a:path w="647700" h="30479">
                  <a:moveTo>
                    <a:pt x="640461" y="0"/>
                  </a:moveTo>
                  <a:lnTo>
                    <a:pt x="6731" y="0"/>
                  </a:lnTo>
                  <a:lnTo>
                    <a:pt x="0" y="6858"/>
                  </a:lnTo>
                  <a:lnTo>
                    <a:pt x="0" y="15240"/>
                  </a:lnTo>
                  <a:lnTo>
                    <a:pt x="0" y="23622"/>
                  </a:lnTo>
                  <a:lnTo>
                    <a:pt x="6731" y="30480"/>
                  </a:lnTo>
                  <a:lnTo>
                    <a:pt x="640461" y="30480"/>
                  </a:lnTo>
                  <a:lnTo>
                    <a:pt x="647319" y="23622"/>
                  </a:lnTo>
                  <a:lnTo>
                    <a:pt x="647319" y="6858"/>
                  </a:lnTo>
                  <a:lnTo>
                    <a:pt x="640461" y="0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70468" y="6424802"/>
              <a:ext cx="485775" cy="485775"/>
            </a:xfrm>
            <a:custGeom>
              <a:avLst/>
              <a:gdLst/>
              <a:ahLst/>
              <a:cxnLst/>
              <a:rect l="l" t="t" r="r" b="b"/>
              <a:pathLst>
                <a:path w="485775" h="485775">
                  <a:moveTo>
                    <a:pt x="394842" y="0"/>
                  </a:moveTo>
                  <a:lnTo>
                    <a:pt x="90550" y="0"/>
                  </a:lnTo>
                  <a:lnTo>
                    <a:pt x="55292" y="7131"/>
                  </a:lnTo>
                  <a:lnTo>
                    <a:pt x="26511" y="26574"/>
                  </a:lnTo>
                  <a:lnTo>
                    <a:pt x="7111" y="55399"/>
                  </a:lnTo>
                  <a:lnTo>
                    <a:pt x="0" y="90678"/>
                  </a:lnTo>
                  <a:lnTo>
                    <a:pt x="0" y="394970"/>
                  </a:lnTo>
                  <a:lnTo>
                    <a:pt x="7111" y="430248"/>
                  </a:lnTo>
                  <a:lnTo>
                    <a:pt x="26511" y="459073"/>
                  </a:lnTo>
                  <a:lnTo>
                    <a:pt x="55292" y="478516"/>
                  </a:lnTo>
                  <a:lnTo>
                    <a:pt x="90550" y="485648"/>
                  </a:lnTo>
                  <a:lnTo>
                    <a:pt x="394842" y="485648"/>
                  </a:lnTo>
                  <a:lnTo>
                    <a:pt x="430121" y="478516"/>
                  </a:lnTo>
                  <a:lnTo>
                    <a:pt x="458946" y="459073"/>
                  </a:lnTo>
                  <a:lnTo>
                    <a:pt x="478389" y="430248"/>
                  </a:lnTo>
                  <a:lnTo>
                    <a:pt x="485521" y="394970"/>
                  </a:lnTo>
                  <a:lnTo>
                    <a:pt x="485521" y="90678"/>
                  </a:lnTo>
                  <a:lnTo>
                    <a:pt x="478389" y="55399"/>
                  </a:lnTo>
                  <a:lnTo>
                    <a:pt x="458946" y="26574"/>
                  </a:lnTo>
                  <a:lnTo>
                    <a:pt x="430121" y="7131"/>
                  </a:lnTo>
                  <a:lnTo>
                    <a:pt x="394842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070468" y="6424802"/>
              <a:ext cx="485775" cy="485775"/>
            </a:xfrm>
            <a:custGeom>
              <a:avLst/>
              <a:gdLst/>
              <a:ahLst/>
              <a:cxnLst/>
              <a:rect l="l" t="t" r="r" b="b"/>
              <a:pathLst>
                <a:path w="485775" h="485775">
                  <a:moveTo>
                    <a:pt x="0" y="90678"/>
                  </a:moveTo>
                  <a:lnTo>
                    <a:pt x="7111" y="55399"/>
                  </a:lnTo>
                  <a:lnTo>
                    <a:pt x="26511" y="26574"/>
                  </a:lnTo>
                  <a:lnTo>
                    <a:pt x="55292" y="7131"/>
                  </a:lnTo>
                  <a:lnTo>
                    <a:pt x="90550" y="0"/>
                  </a:lnTo>
                  <a:lnTo>
                    <a:pt x="394842" y="0"/>
                  </a:lnTo>
                  <a:lnTo>
                    <a:pt x="430121" y="7131"/>
                  </a:lnTo>
                  <a:lnTo>
                    <a:pt x="458946" y="26574"/>
                  </a:lnTo>
                  <a:lnTo>
                    <a:pt x="478389" y="55399"/>
                  </a:lnTo>
                  <a:lnTo>
                    <a:pt x="485521" y="90678"/>
                  </a:lnTo>
                  <a:lnTo>
                    <a:pt x="485521" y="394970"/>
                  </a:lnTo>
                  <a:lnTo>
                    <a:pt x="478389" y="430248"/>
                  </a:lnTo>
                  <a:lnTo>
                    <a:pt x="458946" y="459073"/>
                  </a:lnTo>
                  <a:lnTo>
                    <a:pt x="430121" y="478516"/>
                  </a:lnTo>
                  <a:lnTo>
                    <a:pt x="394842" y="485648"/>
                  </a:lnTo>
                  <a:lnTo>
                    <a:pt x="90550" y="485648"/>
                  </a:lnTo>
                  <a:lnTo>
                    <a:pt x="55292" y="478516"/>
                  </a:lnTo>
                  <a:lnTo>
                    <a:pt x="26511" y="459073"/>
                  </a:lnTo>
                  <a:lnTo>
                    <a:pt x="7111" y="430248"/>
                  </a:lnTo>
                  <a:lnTo>
                    <a:pt x="0" y="394970"/>
                  </a:lnTo>
                  <a:lnTo>
                    <a:pt x="0" y="90678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60892" y="6477241"/>
              <a:ext cx="304558" cy="38075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9380346" y="2579878"/>
            <a:ext cx="4100195" cy="4672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20" dirty="0">
                <a:solidFill>
                  <a:srgbClr val="E4DFDF"/>
                </a:solidFill>
                <a:latin typeface="Trebuchet MS"/>
                <a:cs typeface="Trebuchet MS"/>
              </a:rPr>
              <a:t>FaceForensics++</a:t>
            </a:r>
            <a:r>
              <a:rPr sz="1950" b="1" spc="-4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950" b="1" spc="-10" dirty="0">
                <a:solidFill>
                  <a:srgbClr val="E4DFDF"/>
                </a:solidFill>
                <a:latin typeface="Trebuchet MS"/>
                <a:cs typeface="Trebuchet MS"/>
              </a:rPr>
              <a:t>Dataset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650" dirty="0">
                <a:solidFill>
                  <a:srgbClr val="E4DFDF"/>
                </a:solidFill>
                <a:latin typeface="Microsoft Sans Serif"/>
                <a:cs typeface="Microsoft Sans Serif"/>
              </a:rPr>
              <a:t>~10,560</a:t>
            </a:r>
            <a:r>
              <a:rPr sz="1650" spc="6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E4DFDF"/>
                </a:solidFill>
                <a:latin typeface="Microsoft Sans Serif"/>
                <a:cs typeface="Microsoft Sans Serif"/>
              </a:rPr>
              <a:t>frames</a:t>
            </a:r>
            <a:r>
              <a:rPr sz="1650" spc="4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E4DFDF"/>
                </a:solidFill>
                <a:latin typeface="Microsoft Sans Serif"/>
                <a:cs typeface="Microsoft Sans Serif"/>
              </a:rPr>
              <a:t>from</a:t>
            </a:r>
            <a:r>
              <a:rPr sz="1650" spc="7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E4DFDF"/>
                </a:solidFill>
                <a:latin typeface="Microsoft Sans Serif"/>
                <a:cs typeface="Microsoft Sans Serif"/>
              </a:rPr>
              <a:t>"Deepfakes"</a:t>
            </a:r>
            <a:r>
              <a:rPr sz="1650" spc="4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subset</a:t>
            </a:r>
            <a:endParaRPr sz="16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6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6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950" b="1" spc="-50" dirty="0">
                <a:solidFill>
                  <a:srgbClr val="E4DFDF"/>
                </a:solidFill>
                <a:latin typeface="Trebuchet MS"/>
                <a:cs typeface="Trebuchet MS"/>
              </a:rPr>
              <a:t>Frame</a:t>
            </a:r>
            <a:r>
              <a:rPr sz="1950" b="1" spc="-14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950" b="1" spc="-10" dirty="0">
                <a:solidFill>
                  <a:srgbClr val="E4DFDF"/>
                </a:solidFill>
                <a:latin typeface="Trebuchet MS"/>
                <a:cs typeface="Trebuchet MS"/>
              </a:rPr>
              <a:t>Extraction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1650" spc="-305" dirty="0">
                <a:solidFill>
                  <a:srgbClr val="E4DFDF"/>
                </a:solidFill>
                <a:latin typeface="Microsoft Sans Serif"/>
                <a:cs typeface="Microsoft Sans Serif"/>
              </a:rPr>
              <a:t>1</a:t>
            </a:r>
            <a:r>
              <a:rPr sz="1650" dirty="0">
                <a:solidFill>
                  <a:srgbClr val="E4DFDF"/>
                </a:solidFill>
                <a:latin typeface="Microsoft Sans Serif"/>
                <a:cs typeface="Microsoft Sans Serif"/>
              </a:rPr>
              <a:t> frame</a:t>
            </a:r>
            <a:r>
              <a:rPr sz="1650" spc="-2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E4DFDF"/>
                </a:solidFill>
                <a:latin typeface="Microsoft Sans Serif"/>
                <a:cs typeface="Microsoft Sans Serif"/>
              </a:rPr>
              <a:t>every </a:t>
            </a:r>
            <a:r>
              <a:rPr sz="1650" spc="105" dirty="0">
                <a:solidFill>
                  <a:srgbClr val="E4DFDF"/>
                </a:solidFill>
                <a:latin typeface="Microsoft Sans Serif"/>
                <a:cs typeface="Microsoft Sans Serif"/>
              </a:rPr>
              <a:t>30</a:t>
            </a:r>
            <a:r>
              <a:rPr sz="1650" spc="-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E4DFDF"/>
                </a:solidFill>
                <a:latin typeface="Microsoft Sans Serif"/>
                <a:cs typeface="Microsoft Sans Serif"/>
              </a:rPr>
              <a:t>frames</a:t>
            </a:r>
            <a:r>
              <a:rPr sz="1650" spc="-2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E4DFDF"/>
                </a:solidFill>
                <a:latin typeface="Microsoft Sans Serif"/>
                <a:cs typeface="Microsoft Sans Serif"/>
              </a:rPr>
              <a:t>via</a:t>
            </a:r>
            <a:r>
              <a:rPr sz="1650" spc="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OpenCV</a:t>
            </a:r>
            <a:endParaRPr sz="16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6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6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950" b="1" spc="-25" dirty="0">
                <a:solidFill>
                  <a:srgbClr val="E4DFDF"/>
                </a:solidFill>
                <a:latin typeface="Trebuchet MS"/>
                <a:cs typeface="Trebuchet MS"/>
              </a:rPr>
              <a:t>Resize</a:t>
            </a:r>
            <a:r>
              <a:rPr sz="1950" b="1" spc="-15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950" b="1" spc="-55" dirty="0">
                <a:solidFill>
                  <a:srgbClr val="E4DFDF"/>
                </a:solidFill>
                <a:latin typeface="Trebuchet MS"/>
                <a:cs typeface="Trebuchet MS"/>
              </a:rPr>
              <a:t>&amp;</a:t>
            </a:r>
            <a:r>
              <a:rPr sz="1950" b="1" spc="-9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950" b="1" spc="-10" dirty="0">
                <a:solidFill>
                  <a:srgbClr val="E4DFDF"/>
                </a:solidFill>
                <a:latin typeface="Trebuchet MS"/>
                <a:cs typeface="Trebuchet MS"/>
              </a:rPr>
              <a:t>Normalize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650" spc="75" dirty="0">
                <a:solidFill>
                  <a:srgbClr val="E4DFDF"/>
                </a:solidFill>
                <a:latin typeface="Microsoft Sans Serif"/>
                <a:cs typeface="Microsoft Sans Serif"/>
              </a:rPr>
              <a:t>299×299</a:t>
            </a:r>
            <a:r>
              <a:rPr sz="1650" spc="-3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spc="60" dirty="0">
                <a:solidFill>
                  <a:srgbClr val="E4DFDF"/>
                </a:solidFill>
                <a:latin typeface="Microsoft Sans Serif"/>
                <a:cs typeface="Microsoft Sans Serif"/>
              </a:rPr>
              <a:t>for</a:t>
            </a:r>
            <a:r>
              <a:rPr sz="1650" spc="-4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E4DFDF"/>
                </a:solidFill>
                <a:latin typeface="Microsoft Sans Serif"/>
                <a:cs typeface="Microsoft Sans Serif"/>
              </a:rPr>
              <a:t>Xception;</a:t>
            </a:r>
            <a:r>
              <a:rPr sz="1650" spc="-3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spc="95" dirty="0">
                <a:solidFill>
                  <a:srgbClr val="E4DFDF"/>
                </a:solidFill>
                <a:latin typeface="Microsoft Sans Serif"/>
                <a:cs typeface="Microsoft Sans Serif"/>
              </a:rPr>
              <a:t>224×224</a:t>
            </a:r>
            <a:r>
              <a:rPr sz="1650" spc="-2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spc="60" dirty="0">
                <a:solidFill>
                  <a:srgbClr val="E4DFDF"/>
                </a:solidFill>
                <a:latin typeface="Microsoft Sans Serif"/>
                <a:cs typeface="Microsoft Sans Serif"/>
              </a:rPr>
              <a:t>for</a:t>
            </a:r>
            <a:r>
              <a:rPr sz="1650" spc="-4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others</a:t>
            </a:r>
            <a:endParaRPr sz="16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6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6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950" b="1" spc="-10" dirty="0">
                <a:solidFill>
                  <a:srgbClr val="E4DFDF"/>
                </a:solidFill>
                <a:latin typeface="Trebuchet MS"/>
                <a:cs typeface="Trebuchet MS"/>
              </a:rPr>
              <a:t>Augmentation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650" dirty="0">
                <a:solidFill>
                  <a:srgbClr val="E4DFDF"/>
                </a:solidFill>
                <a:latin typeface="Microsoft Sans Serif"/>
                <a:cs typeface="Microsoft Sans Serif"/>
              </a:rPr>
              <a:t>On-</a:t>
            </a:r>
            <a:r>
              <a:rPr sz="1650" spc="65" dirty="0">
                <a:solidFill>
                  <a:srgbClr val="E4DFDF"/>
                </a:solidFill>
                <a:latin typeface="Microsoft Sans Serif"/>
                <a:cs typeface="Microsoft Sans Serif"/>
              </a:rPr>
              <a:t>the-</a:t>
            </a:r>
            <a:r>
              <a:rPr sz="1650" spc="60" dirty="0">
                <a:solidFill>
                  <a:srgbClr val="E4DFDF"/>
                </a:solidFill>
                <a:latin typeface="Microsoft Sans Serif"/>
                <a:cs typeface="Microsoft Sans Serif"/>
              </a:rPr>
              <a:t>fly</a:t>
            </a:r>
            <a:r>
              <a:rPr sz="1650" spc="7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E4DFDF"/>
                </a:solidFill>
                <a:latin typeface="Microsoft Sans Serif"/>
                <a:cs typeface="Microsoft Sans Serif"/>
              </a:rPr>
              <a:t>rotation,</a:t>
            </a:r>
            <a:r>
              <a:rPr sz="1650" spc="8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E4DFDF"/>
                </a:solidFill>
                <a:latin typeface="Microsoft Sans Serif"/>
                <a:cs typeface="Microsoft Sans Serif"/>
              </a:rPr>
              <a:t>flips,</a:t>
            </a:r>
            <a:r>
              <a:rPr sz="1650" spc="114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shifts</a:t>
            </a:r>
            <a:endParaRPr sz="1650">
              <a:latin typeface="Microsoft Sans Serif"/>
              <a:cs typeface="Microsoft Sans Serif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7D5D371-FF1B-4F37-E700-36E02E2ACB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99656" y="7772400"/>
            <a:ext cx="2119314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5195" y="1600276"/>
            <a:ext cx="792543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Data</a:t>
            </a:r>
            <a:r>
              <a:rPr sz="4400" spc="-275" dirty="0"/>
              <a:t> </a:t>
            </a:r>
            <a:r>
              <a:rPr sz="4400" spc="-65" dirty="0"/>
              <a:t>Augmentation</a:t>
            </a:r>
            <a:r>
              <a:rPr sz="4400" spc="-265" dirty="0"/>
              <a:t> </a:t>
            </a:r>
            <a:r>
              <a:rPr sz="4400" spc="-75" dirty="0"/>
              <a:t>Techniques</a:t>
            </a:r>
            <a:endParaRPr sz="4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730" y="2844545"/>
            <a:ext cx="4118864" cy="25455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25195" y="5660897"/>
            <a:ext cx="2992755" cy="862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20" dirty="0">
                <a:solidFill>
                  <a:srgbClr val="E4DFDF"/>
                </a:solidFill>
                <a:latin typeface="Trebuchet MS"/>
                <a:cs typeface="Trebuchet MS"/>
              </a:rPr>
              <a:t>Random</a:t>
            </a:r>
            <a:r>
              <a:rPr sz="2200" b="1" spc="-13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Rotation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1850" spc="95" dirty="0">
                <a:solidFill>
                  <a:srgbClr val="E4DFDF"/>
                </a:solidFill>
                <a:latin typeface="Microsoft Sans Serif"/>
                <a:cs typeface="Microsoft Sans Serif"/>
              </a:rPr>
              <a:t>±20°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90" dirty="0">
                <a:solidFill>
                  <a:srgbClr val="E4DFDF"/>
                </a:solidFill>
                <a:latin typeface="Microsoft Sans Serif"/>
                <a:cs typeface="Microsoft Sans Serif"/>
              </a:rPr>
              <a:t>to</a:t>
            </a:r>
            <a:r>
              <a:rPr sz="1850" spc="-3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simulate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camera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90" dirty="0">
                <a:solidFill>
                  <a:srgbClr val="E4DFDF"/>
                </a:solidFill>
                <a:latin typeface="Microsoft Sans Serif"/>
                <a:cs typeface="Microsoft Sans Serif"/>
              </a:rPr>
              <a:t>tilt</a:t>
            </a:r>
            <a:endParaRPr sz="185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5767" y="2844545"/>
            <a:ext cx="4118864" cy="254558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243576" y="5660897"/>
            <a:ext cx="2404110" cy="862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5" dirty="0">
                <a:solidFill>
                  <a:srgbClr val="E4DFDF"/>
                </a:solidFill>
                <a:latin typeface="Trebuchet MS"/>
                <a:cs typeface="Trebuchet MS"/>
              </a:rPr>
              <a:t>Horizontal</a:t>
            </a:r>
            <a:r>
              <a:rPr sz="2200" b="1" spc="-9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spc="-20" dirty="0">
                <a:solidFill>
                  <a:srgbClr val="E4DFDF"/>
                </a:solidFill>
                <a:latin typeface="Trebuchet MS"/>
                <a:cs typeface="Trebuchet MS"/>
              </a:rPr>
              <a:t>Flip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Mirror</a:t>
            </a:r>
            <a:r>
              <a:rPr sz="1850" spc="12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face</a:t>
            </a:r>
            <a:r>
              <a:rPr sz="1850" spc="9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orientation</a:t>
            </a:r>
            <a:endParaRPr sz="185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73843" y="2844545"/>
            <a:ext cx="4118863" cy="254558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661906" y="5660897"/>
            <a:ext cx="3293110" cy="862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Noise</a:t>
            </a:r>
            <a:r>
              <a:rPr sz="2200" b="1" spc="-16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spc="-85" dirty="0">
                <a:solidFill>
                  <a:srgbClr val="E4DFDF"/>
                </a:solidFill>
                <a:latin typeface="Trebuchet MS"/>
                <a:cs typeface="Trebuchet MS"/>
              </a:rPr>
              <a:t>&amp;</a:t>
            </a:r>
            <a:r>
              <a:rPr sz="2200" b="1" spc="-13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Jitter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Simulate</a:t>
            </a:r>
            <a:r>
              <a:rPr sz="1850" spc="1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compression</a:t>
            </a:r>
            <a:r>
              <a:rPr sz="1850" spc="1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35" dirty="0">
                <a:solidFill>
                  <a:srgbClr val="E4DFDF"/>
                </a:solidFill>
                <a:latin typeface="Microsoft Sans Serif"/>
                <a:cs typeface="Microsoft Sans Serif"/>
              </a:rPr>
              <a:t>artifacts</a:t>
            </a:r>
            <a:endParaRPr sz="1850">
              <a:latin typeface="Microsoft Sans Serif"/>
              <a:cs typeface="Microsoft Sans Serif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80778A-19D4-8DE1-A8CF-336AF4F394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99656" y="7772400"/>
            <a:ext cx="2119314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3551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00"/>
              </a:spcBef>
            </a:pPr>
            <a:r>
              <a:rPr sz="4400" spc="175" dirty="0"/>
              <a:t>CNN</a:t>
            </a:r>
            <a:r>
              <a:rPr sz="4400" spc="-290" dirty="0"/>
              <a:t> </a:t>
            </a:r>
            <a:r>
              <a:rPr sz="4400" spc="-35" dirty="0"/>
              <a:t>Backbones</a:t>
            </a:r>
            <a:r>
              <a:rPr sz="4400" spc="-305" dirty="0"/>
              <a:t> </a:t>
            </a:r>
            <a:r>
              <a:rPr sz="4400" spc="-100" dirty="0"/>
              <a:t>Overview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1387602" y="2823210"/>
            <a:ext cx="3674110" cy="1243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7620" algn="r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Xception</a:t>
            </a:r>
            <a:endParaRPr sz="2200">
              <a:latin typeface="Trebuchet MS"/>
              <a:cs typeface="Trebuchet MS"/>
            </a:endParaRPr>
          </a:p>
          <a:p>
            <a:pPr marR="5715" algn="r">
              <a:lnSpc>
                <a:spcPct val="100000"/>
              </a:lnSpc>
              <a:spcBef>
                <a:spcPts val="1685"/>
              </a:spcBef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Depthwise</a:t>
            </a:r>
            <a:r>
              <a:rPr sz="1850" spc="-8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separable</a:t>
            </a:r>
            <a:r>
              <a:rPr sz="1850" spc="-7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convolutions;</a:t>
            </a:r>
            <a:endParaRPr sz="1850">
              <a:latin typeface="Microsoft Sans Serif"/>
              <a:cs typeface="Microsoft Sans Serif"/>
            </a:endParaRPr>
          </a:p>
          <a:p>
            <a:pPr marR="5080" algn="r">
              <a:lnSpc>
                <a:spcPct val="100000"/>
              </a:lnSpc>
              <a:spcBef>
                <a:spcPts val="825"/>
              </a:spcBef>
            </a:pPr>
            <a:r>
              <a:rPr sz="1850" spc="80" dirty="0">
                <a:solidFill>
                  <a:srgbClr val="E4DFDF"/>
                </a:solidFill>
                <a:latin typeface="Microsoft Sans Serif"/>
                <a:cs typeface="Microsoft Sans Serif"/>
              </a:rPr>
              <a:t>299×299</a:t>
            </a:r>
            <a:r>
              <a:rPr sz="1850" spc="-3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30" dirty="0">
                <a:solidFill>
                  <a:srgbClr val="E4DFDF"/>
                </a:solidFill>
                <a:latin typeface="Microsoft Sans Serif"/>
                <a:cs typeface="Microsoft Sans Serif"/>
              </a:rPr>
              <a:t>input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048122" y="2439098"/>
            <a:ext cx="4534535" cy="4534535"/>
            <a:chOff x="5048122" y="2439098"/>
            <a:chExt cx="4534535" cy="45345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48122" y="2439098"/>
              <a:ext cx="4534154" cy="453415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02171" y="3809479"/>
              <a:ext cx="336588" cy="42076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570466" y="2543048"/>
            <a:ext cx="3691254" cy="862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EfficientNetB0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Compound</a:t>
            </a:r>
            <a:r>
              <a:rPr sz="1850" spc="-6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scaling;</a:t>
            </a:r>
            <a:r>
              <a:rPr sz="1850" spc="-5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100" dirty="0">
                <a:solidFill>
                  <a:srgbClr val="E4DFDF"/>
                </a:solidFill>
                <a:latin typeface="Microsoft Sans Serif"/>
                <a:cs typeface="Microsoft Sans Serif"/>
              </a:rPr>
              <a:t>224×224</a:t>
            </a:r>
            <a:r>
              <a:rPr sz="1850" spc="-2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40" dirty="0">
                <a:solidFill>
                  <a:srgbClr val="E4DFDF"/>
                </a:solidFill>
                <a:latin typeface="Microsoft Sans Serif"/>
                <a:cs typeface="Microsoft Sans Serif"/>
              </a:rPr>
              <a:t>input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048122" y="2439098"/>
            <a:ext cx="4534535" cy="4534535"/>
            <a:chOff x="5048122" y="2439098"/>
            <a:chExt cx="4534535" cy="453453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48122" y="2439098"/>
              <a:ext cx="4534154" cy="453415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07604" y="3385299"/>
              <a:ext cx="336588" cy="42076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48122" y="2439098"/>
              <a:ext cx="4534154" cy="453415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14308" y="4495787"/>
              <a:ext cx="336588" cy="42076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0049382" y="4046601"/>
            <a:ext cx="3042920" cy="1243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MobileNetV2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37300"/>
              </a:lnSpc>
              <a:spcBef>
                <a:spcPts val="855"/>
              </a:spcBef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Inverted</a:t>
            </a:r>
            <a:r>
              <a:rPr sz="1850" spc="8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residuals;</a:t>
            </a:r>
            <a:r>
              <a:rPr sz="1850" spc="6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resource- efficient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70466" y="5933313"/>
            <a:ext cx="2625090" cy="862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VGG19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Stack</a:t>
            </a:r>
            <a:r>
              <a:rPr sz="1850" spc="-2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50" dirty="0">
                <a:solidFill>
                  <a:srgbClr val="E4DFDF"/>
                </a:solidFill>
                <a:latin typeface="Microsoft Sans Serif"/>
                <a:cs typeface="Microsoft Sans Serif"/>
              </a:rPr>
              <a:t>of</a:t>
            </a:r>
            <a:r>
              <a:rPr sz="1850" spc="-4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90" dirty="0">
                <a:solidFill>
                  <a:srgbClr val="E4DFDF"/>
                </a:solidFill>
                <a:latin typeface="Microsoft Sans Serif"/>
                <a:cs typeface="Microsoft Sans Serif"/>
              </a:rPr>
              <a:t>3×3</a:t>
            </a:r>
            <a:r>
              <a:rPr sz="1850" spc="-4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conv</a:t>
            </a:r>
            <a:r>
              <a:rPr sz="1850" spc="-4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layers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048122" y="2439098"/>
            <a:ext cx="4534535" cy="4534535"/>
            <a:chOff x="5048122" y="2439098"/>
            <a:chExt cx="4534535" cy="4534535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48122" y="2439098"/>
              <a:ext cx="4534154" cy="453415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07604" y="5606148"/>
              <a:ext cx="336588" cy="420763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774698" y="5270119"/>
            <a:ext cx="3286760" cy="1243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91995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ResNet50</a:t>
            </a:r>
            <a:endParaRPr sz="22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1685"/>
              </a:spcBef>
            </a:pPr>
            <a:r>
              <a:rPr sz="1850" spc="-25" dirty="0">
                <a:solidFill>
                  <a:srgbClr val="E4DFDF"/>
                </a:solidFill>
                <a:latin typeface="Microsoft Sans Serif"/>
                <a:cs typeface="Microsoft Sans Serif"/>
              </a:rPr>
              <a:t>Residual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connections;</a:t>
            </a:r>
            <a:r>
              <a:rPr sz="1850" spc="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130" dirty="0">
                <a:solidFill>
                  <a:srgbClr val="E4DFDF"/>
                </a:solidFill>
                <a:latin typeface="Microsoft Sans Serif"/>
                <a:cs typeface="Microsoft Sans Serif"/>
              </a:rPr>
              <a:t>50-</a:t>
            </a:r>
            <a:r>
              <a:rPr sz="1850" spc="-20" dirty="0">
                <a:solidFill>
                  <a:srgbClr val="E4DFDF"/>
                </a:solidFill>
                <a:latin typeface="Microsoft Sans Serif"/>
                <a:cs typeface="Microsoft Sans Serif"/>
              </a:rPr>
              <a:t>layer</a:t>
            </a:r>
            <a:endParaRPr sz="1850">
              <a:latin typeface="Microsoft Sans Serif"/>
              <a:cs typeface="Microsoft Sans Serif"/>
            </a:endParaRPr>
          </a:p>
          <a:p>
            <a:pPr marR="5080" algn="r">
              <a:lnSpc>
                <a:spcPct val="100000"/>
              </a:lnSpc>
              <a:spcBef>
                <a:spcPts val="825"/>
              </a:spcBef>
            </a:pP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bottlenecks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048122" y="2439098"/>
            <a:ext cx="4534535" cy="4534535"/>
            <a:chOff x="5048122" y="2439098"/>
            <a:chExt cx="4534535" cy="4534535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48122" y="2439098"/>
              <a:ext cx="4534154" cy="453415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02171" y="5181968"/>
              <a:ext cx="336588" cy="420763"/>
            </a:xfrm>
            <a:prstGeom prst="rect">
              <a:avLst/>
            </a:prstGeom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C0CE436-82FA-E722-94B5-709AE8CEA4C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499656" y="7772400"/>
            <a:ext cx="2119314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246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sz="4400" spc="-95" dirty="0"/>
              <a:t>Fine-</a:t>
            </a:r>
            <a:r>
              <a:rPr sz="4400" spc="-85" dirty="0"/>
              <a:t>Tuning</a:t>
            </a:r>
            <a:r>
              <a:rPr sz="4400" spc="-260" dirty="0"/>
              <a:t> </a:t>
            </a:r>
            <a:r>
              <a:rPr sz="4400" spc="-10" dirty="0"/>
              <a:t>Strategy</a:t>
            </a:r>
            <a:endParaRPr sz="4400"/>
          </a:p>
        </p:txBody>
      </p:sp>
      <p:grpSp>
        <p:nvGrpSpPr>
          <p:cNvPr id="4" name="object 4"/>
          <p:cNvGrpSpPr/>
          <p:nvPr/>
        </p:nvGrpSpPr>
        <p:grpSpPr>
          <a:xfrm>
            <a:off x="827836" y="1825625"/>
            <a:ext cx="1628775" cy="1355090"/>
            <a:chOff x="827836" y="1825625"/>
            <a:chExt cx="1628775" cy="1355090"/>
          </a:xfrm>
        </p:grpSpPr>
        <p:sp>
          <p:nvSpPr>
            <p:cNvPr id="5" name="object 5"/>
            <p:cNvSpPr/>
            <p:nvPr/>
          </p:nvSpPr>
          <p:spPr>
            <a:xfrm>
              <a:off x="831646" y="1829435"/>
              <a:ext cx="1621155" cy="1347470"/>
            </a:xfrm>
            <a:custGeom>
              <a:avLst/>
              <a:gdLst/>
              <a:ahLst/>
              <a:cxnLst/>
              <a:rect l="l" t="t" r="r" b="b"/>
              <a:pathLst>
                <a:path w="1621155" h="1347470">
                  <a:moveTo>
                    <a:pt x="1521028" y="0"/>
                  </a:moveTo>
                  <a:lnTo>
                    <a:pt x="99809" y="0"/>
                  </a:lnTo>
                  <a:lnTo>
                    <a:pt x="60961" y="7846"/>
                  </a:lnTo>
                  <a:lnTo>
                    <a:pt x="29235" y="29241"/>
                  </a:lnTo>
                  <a:lnTo>
                    <a:pt x="7844" y="60971"/>
                  </a:lnTo>
                  <a:lnTo>
                    <a:pt x="0" y="99822"/>
                  </a:lnTo>
                  <a:lnTo>
                    <a:pt x="0" y="1247393"/>
                  </a:lnTo>
                  <a:lnTo>
                    <a:pt x="7844" y="1286224"/>
                  </a:lnTo>
                  <a:lnTo>
                    <a:pt x="29235" y="1317910"/>
                  </a:lnTo>
                  <a:lnTo>
                    <a:pt x="60961" y="1339262"/>
                  </a:lnTo>
                  <a:lnTo>
                    <a:pt x="99809" y="1347089"/>
                  </a:lnTo>
                  <a:lnTo>
                    <a:pt x="1521028" y="1347089"/>
                  </a:lnTo>
                  <a:lnTo>
                    <a:pt x="1559878" y="1339262"/>
                  </a:lnTo>
                  <a:lnTo>
                    <a:pt x="1591608" y="1317910"/>
                  </a:lnTo>
                  <a:lnTo>
                    <a:pt x="1613003" y="1286224"/>
                  </a:lnTo>
                  <a:lnTo>
                    <a:pt x="1620850" y="1247393"/>
                  </a:lnTo>
                  <a:lnTo>
                    <a:pt x="1620850" y="99822"/>
                  </a:lnTo>
                  <a:lnTo>
                    <a:pt x="1613003" y="60971"/>
                  </a:lnTo>
                  <a:lnTo>
                    <a:pt x="1591608" y="29241"/>
                  </a:lnTo>
                  <a:lnTo>
                    <a:pt x="1559878" y="7846"/>
                  </a:lnTo>
                  <a:lnTo>
                    <a:pt x="1521028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1646" y="1829435"/>
              <a:ext cx="1621155" cy="1347470"/>
            </a:xfrm>
            <a:custGeom>
              <a:avLst/>
              <a:gdLst/>
              <a:ahLst/>
              <a:cxnLst/>
              <a:rect l="l" t="t" r="r" b="b"/>
              <a:pathLst>
                <a:path w="1621155" h="1347470">
                  <a:moveTo>
                    <a:pt x="0" y="99822"/>
                  </a:moveTo>
                  <a:lnTo>
                    <a:pt x="7844" y="60971"/>
                  </a:lnTo>
                  <a:lnTo>
                    <a:pt x="29235" y="29241"/>
                  </a:lnTo>
                  <a:lnTo>
                    <a:pt x="60961" y="7846"/>
                  </a:lnTo>
                  <a:lnTo>
                    <a:pt x="99809" y="0"/>
                  </a:lnTo>
                  <a:lnTo>
                    <a:pt x="1521028" y="0"/>
                  </a:lnTo>
                  <a:lnTo>
                    <a:pt x="1559878" y="7846"/>
                  </a:lnTo>
                  <a:lnTo>
                    <a:pt x="1591608" y="29241"/>
                  </a:lnTo>
                  <a:lnTo>
                    <a:pt x="1613003" y="60971"/>
                  </a:lnTo>
                  <a:lnTo>
                    <a:pt x="1620850" y="99822"/>
                  </a:lnTo>
                  <a:lnTo>
                    <a:pt x="1620850" y="1247393"/>
                  </a:lnTo>
                  <a:lnTo>
                    <a:pt x="1613003" y="1286224"/>
                  </a:lnTo>
                  <a:lnTo>
                    <a:pt x="1591608" y="1317910"/>
                  </a:lnTo>
                  <a:lnTo>
                    <a:pt x="1559878" y="1339262"/>
                  </a:lnTo>
                  <a:lnTo>
                    <a:pt x="1521028" y="1347089"/>
                  </a:lnTo>
                  <a:lnTo>
                    <a:pt x="99809" y="1347089"/>
                  </a:lnTo>
                  <a:lnTo>
                    <a:pt x="60961" y="1339262"/>
                  </a:lnTo>
                  <a:lnTo>
                    <a:pt x="29235" y="1317910"/>
                  </a:lnTo>
                  <a:lnTo>
                    <a:pt x="7844" y="1286224"/>
                  </a:lnTo>
                  <a:lnTo>
                    <a:pt x="0" y="1247393"/>
                  </a:lnTo>
                  <a:lnTo>
                    <a:pt x="0" y="99822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4977" y="2294039"/>
              <a:ext cx="334086" cy="417664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2571114" y="3161410"/>
            <a:ext cx="11109325" cy="15240"/>
          </a:xfrm>
          <a:custGeom>
            <a:avLst/>
            <a:gdLst/>
            <a:ahLst/>
            <a:cxnLst/>
            <a:rect l="l" t="t" r="r" b="b"/>
            <a:pathLst>
              <a:path w="11109325" h="15239">
                <a:moveTo>
                  <a:pt x="11105515" y="0"/>
                </a:moveTo>
                <a:lnTo>
                  <a:pt x="3429" y="0"/>
                </a:lnTo>
                <a:lnTo>
                  <a:pt x="0" y="3301"/>
                </a:lnTo>
                <a:lnTo>
                  <a:pt x="0" y="7619"/>
                </a:lnTo>
                <a:lnTo>
                  <a:pt x="0" y="11811"/>
                </a:lnTo>
                <a:lnTo>
                  <a:pt x="3429" y="15112"/>
                </a:lnTo>
                <a:lnTo>
                  <a:pt x="11105515" y="15112"/>
                </a:lnTo>
                <a:lnTo>
                  <a:pt x="11108944" y="11811"/>
                </a:lnTo>
                <a:lnTo>
                  <a:pt x="11108944" y="3301"/>
                </a:lnTo>
                <a:lnTo>
                  <a:pt x="11105515" y="0"/>
                </a:lnTo>
                <a:close/>
              </a:path>
            </a:pathLst>
          </a:custGeom>
          <a:solidFill>
            <a:srgbClr val="961B5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827836" y="3291459"/>
            <a:ext cx="3249930" cy="1355090"/>
            <a:chOff x="827836" y="3291459"/>
            <a:chExt cx="3249930" cy="1355090"/>
          </a:xfrm>
        </p:grpSpPr>
        <p:sp>
          <p:nvSpPr>
            <p:cNvPr id="10" name="object 10"/>
            <p:cNvSpPr/>
            <p:nvPr/>
          </p:nvSpPr>
          <p:spPr>
            <a:xfrm>
              <a:off x="831646" y="3295269"/>
              <a:ext cx="3242310" cy="1347470"/>
            </a:xfrm>
            <a:custGeom>
              <a:avLst/>
              <a:gdLst/>
              <a:ahLst/>
              <a:cxnLst/>
              <a:rect l="l" t="t" r="r" b="b"/>
              <a:pathLst>
                <a:path w="3242310" h="1347470">
                  <a:moveTo>
                    <a:pt x="3141929" y="0"/>
                  </a:moveTo>
                  <a:lnTo>
                    <a:pt x="99809" y="0"/>
                  </a:lnTo>
                  <a:lnTo>
                    <a:pt x="60961" y="7846"/>
                  </a:lnTo>
                  <a:lnTo>
                    <a:pt x="29235" y="29241"/>
                  </a:lnTo>
                  <a:lnTo>
                    <a:pt x="7844" y="60971"/>
                  </a:lnTo>
                  <a:lnTo>
                    <a:pt x="0" y="99821"/>
                  </a:lnTo>
                  <a:lnTo>
                    <a:pt x="0" y="1247393"/>
                  </a:lnTo>
                  <a:lnTo>
                    <a:pt x="7844" y="1286244"/>
                  </a:lnTo>
                  <a:lnTo>
                    <a:pt x="29235" y="1317974"/>
                  </a:lnTo>
                  <a:lnTo>
                    <a:pt x="60961" y="1339369"/>
                  </a:lnTo>
                  <a:lnTo>
                    <a:pt x="99809" y="1347215"/>
                  </a:lnTo>
                  <a:lnTo>
                    <a:pt x="3141929" y="1347215"/>
                  </a:lnTo>
                  <a:lnTo>
                    <a:pt x="3180779" y="1339369"/>
                  </a:lnTo>
                  <a:lnTo>
                    <a:pt x="3212509" y="1317974"/>
                  </a:lnTo>
                  <a:lnTo>
                    <a:pt x="3233904" y="1286244"/>
                  </a:lnTo>
                  <a:lnTo>
                    <a:pt x="3241751" y="1247393"/>
                  </a:lnTo>
                  <a:lnTo>
                    <a:pt x="3241751" y="99821"/>
                  </a:lnTo>
                  <a:lnTo>
                    <a:pt x="3233904" y="60971"/>
                  </a:lnTo>
                  <a:lnTo>
                    <a:pt x="3212509" y="29241"/>
                  </a:lnTo>
                  <a:lnTo>
                    <a:pt x="3180779" y="7846"/>
                  </a:lnTo>
                  <a:lnTo>
                    <a:pt x="3141929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1646" y="3295269"/>
              <a:ext cx="3242310" cy="1347470"/>
            </a:xfrm>
            <a:custGeom>
              <a:avLst/>
              <a:gdLst/>
              <a:ahLst/>
              <a:cxnLst/>
              <a:rect l="l" t="t" r="r" b="b"/>
              <a:pathLst>
                <a:path w="3242310" h="1347470">
                  <a:moveTo>
                    <a:pt x="0" y="99821"/>
                  </a:moveTo>
                  <a:lnTo>
                    <a:pt x="7844" y="60971"/>
                  </a:lnTo>
                  <a:lnTo>
                    <a:pt x="29235" y="29241"/>
                  </a:lnTo>
                  <a:lnTo>
                    <a:pt x="60961" y="7846"/>
                  </a:lnTo>
                  <a:lnTo>
                    <a:pt x="99809" y="0"/>
                  </a:lnTo>
                  <a:lnTo>
                    <a:pt x="3141929" y="0"/>
                  </a:lnTo>
                  <a:lnTo>
                    <a:pt x="3180779" y="7846"/>
                  </a:lnTo>
                  <a:lnTo>
                    <a:pt x="3212509" y="29241"/>
                  </a:lnTo>
                  <a:lnTo>
                    <a:pt x="3233904" y="60971"/>
                  </a:lnTo>
                  <a:lnTo>
                    <a:pt x="3241751" y="99821"/>
                  </a:lnTo>
                  <a:lnTo>
                    <a:pt x="3241751" y="1247393"/>
                  </a:lnTo>
                  <a:lnTo>
                    <a:pt x="3233904" y="1286244"/>
                  </a:lnTo>
                  <a:lnTo>
                    <a:pt x="3212509" y="1317974"/>
                  </a:lnTo>
                  <a:lnTo>
                    <a:pt x="3180779" y="1339369"/>
                  </a:lnTo>
                  <a:lnTo>
                    <a:pt x="3141929" y="1347215"/>
                  </a:lnTo>
                  <a:lnTo>
                    <a:pt x="99809" y="1347215"/>
                  </a:lnTo>
                  <a:lnTo>
                    <a:pt x="60961" y="1339369"/>
                  </a:lnTo>
                  <a:lnTo>
                    <a:pt x="29235" y="1317974"/>
                  </a:lnTo>
                  <a:lnTo>
                    <a:pt x="7844" y="1286244"/>
                  </a:lnTo>
                  <a:lnTo>
                    <a:pt x="0" y="1247393"/>
                  </a:lnTo>
                  <a:lnTo>
                    <a:pt x="0" y="99821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5364" y="3760000"/>
              <a:ext cx="334086" cy="417664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4192015" y="4627245"/>
            <a:ext cx="9488170" cy="15240"/>
          </a:xfrm>
          <a:custGeom>
            <a:avLst/>
            <a:gdLst/>
            <a:ahLst/>
            <a:cxnLst/>
            <a:rect l="l" t="t" r="r" b="b"/>
            <a:pathLst>
              <a:path w="9488169" h="15239">
                <a:moveTo>
                  <a:pt x="9484614" y="0"/>
                </a:moveTo>
                <a:lnTo>
                  <a:pt x="3429" y="0"/>
                </a:lnTo>
                <a:lnTo>
                  <a:pt x="0" y="3428"/>
                </a:lnTo>
                <a:lnTo>
                  <a:pt x="0" y="7619"/>
                </a:lnTo>
                <a:lnTo>
                  <a:pt x="0" y="11810"/>
                </a:lnTo>
                <a:lnTo>
                  <a:pt x="3429" y="15239"/>
                </a:lnTo>
                <a:lnTo>
                  <a:pt x="9484614" y="15239"/>
                </a:lnTo>
                <a:lnTo>
                  <a:pt x="9488043" y="11810"/>
                </a:lnTo>
                <a:lnTo>
                  <a:pt x="9488043" y="3428"/>
                </a:lnTo>
                <a:lnTo>
                  <a:pt x="9484614" y="0"/>
                </a:lnTo>
                <a:close/>
              </a:path>
            </a:pathLst>
          </a:custGeom>
          <a:solidFill>
            <a:srgbClr val="961B5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827836" y="4757420"/>
            <a:ext cx="4870450" cy="1355090"/>
            <a:chOff x="827836" y="4757420"/>
            <a:chExt cx="4870450" cy="1355090"/>
          </a:xfrm>
        </p:grpSpPr>
        <p:sp>
          <p:nvSpPr>
            <p:cNvPr id="15" name="object 15"/>
            <p:cNvSpPr/>
            <p:nvPr/>
          </p:nvSpPr>
          <p:spPr>
            <a:xfrm>
              <a:off x="831646" y="4761230"/>
              <a:ext cx="4862830" cy="1347470"/>
            </a:xfrm>
            <a:custGeom>
              <a:avLst/>
              <a:gdLst/>
              <a:ahLst/>
              <a:cxnLst/>
              <a:rect l="l" t="t" r="r" b="b"/>
              <a:pathLst>
                <a:path w="4862830" h="1347470">
                  <a:moveTo>
                    <a:pt x="4762830" y="0"/>
                  </a:moveTo>
                  <a:lnTo>
                    <a:pt x="99809" y="0"/>
                  </a:lnTo>
                  <a:lnTo>
                    <a:pt x="60961" y="7846"/>
                  </a:lnTo>
                  <a:lnTo>
                    <a:pt x="29235" y="29241"/>
                  </a:lnTo>
                  <a:lnTo>
                    <a:pt x="7844" y="60971"/>
                  </a:lnTo>
                  <a:lnTo>
                    <a:pt x="0" y="99822"/>
                  </a:lnTo>
                  <a:lnTo>
                    <a:pt x="0" y="1247394"/>
                  </a:lnTo>
                  <a:lnTo>
                    <a:pt x="7844" y="1286224"/>
                  </a:lnTo>
                  <a:lnTo>
                    <a:pt x="29235" y="1317910"/>
                  </a:lnTo>
                  <a:lnTo>
                    <a:pt x="60961" y="1339262"/>
                  </a:lnTo>
                  <a:lnTo>
                    <a:pt x="99809" y="1347089"/>
                  </a:lnTo>
                  <a:lnTo>
                    <a:pt x="4762830" y="1347089"/>
                  </a:lnTo>
                  <a:lnTo>
                    <a:pt x="4801680" y="1339262"/>
                  </a:lnTo>
                  <a:lnTo>
                    <a:pt x="4833410" y="1317910"/>
                  </a:lnTo>
                  <a:lnTo>
                    <a:pt x="4854805" y="1286224"/>
                  </a:lnTo>
                  <a:lnTo>
                    <a:pt x="4862652" y="1247394"/>
                  </a:lnTo>
                  <a:lnTo>
                    <a:pt x="4862652" y="99822"/>
                  </a:lnTo>
                  <a:lnTo>
                    <a:pt x="4854805" y="60971"/>
                  </a:lnTo>
                  <a:lnTo>
                    <a:pt x="4833410" y="29241"/>
                  </a:lnTo>
                  <a:lnTo>
                    <a:pt x="4801680" y="7846"/>
                  </a:lnTo>
                  <a:lnTo>
                    <a:pt x="4762830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31646" y="4761230"/>
              <a:ext cx="4862830" cy="1347470"/>
            </a:xfrm>
            <a:custGeom>
              <a:avLst/>
              <a:gdLst/>
              <a:ahLst/>
              <a:cxnLst/>
              <a:rect l="l" t="t" r="r" b="b"/>
              <a:pathLst>
                <a:path w="4862830" h="1347470">
                  <a:moveTo>
                    <a:pt x="0" y="99822"/>
                  </a:moveTo>
                  <a:lnTo>
                    <a:pt x="7844" y="60971"/>
                  </a:lnTo>
                  <a:lnTo>
                    <a:pt x="29235" y="29241"/>
                  </a:lnTo>
                  <a:lnTo>
                    <a:pt x="60961" y="7846"/>
                  </a:lnTo>
                  <a:lnTo>
                    <a:pt x="99809" y="0"/>
                  </a:lnTo>
                  <a:lnTo>
                    <a:pt x="4762830" y="0"/>
                  </a:lnTo>
                  <a:lnTo>
                    <a:pt x="4801680" y="7846"/>
                  </a:lnTo>
                  <a:lnTo>
                    <a:pt x="4833410" y="29241"/>
                  </a:lnTo>
                  <a:lnTo>
                    <a:pt x="4854805" y="60971"/>
                  </a:lnTo>
                  <a:lnTo>
                    <a:pt x="4862652" y="99822"/>
                  </a:lnTo>
                  <a:lnTo>
                    <a:pt x="4862652" y="1247394"/>
                  </a:lnTo>
                  <a:lnTo>
                    <a:pt x="4854805" y="1286224"/>
                  </a:lnTo>
                  <a:lnTo>
                    <a:pt x="4833410" y="1317910"/>
                  </a:lnTo>
                  <a:lnTo>
                    <a:pt x="4801680" y="1339262"/>
                  </a:lnTo>
                  <a:lnTo>
                    <a:pt x="4762830" y="1347089"/>
                  </a:lnTo>
                  <a:lnTo>
                    <a:pt x="99809" y="1347089"/>
                  </a:lnTo>
                  <a:lnTo>
                    <a:pt x="60961" y="1339262"/>
                  </a:lnTo>
                  <a:lnTo>
                    <a:pt x="29235" y="1317910"/>
                  </a:lnTo>
                  <a:lnTo>
                    <a:pt x="7844" y="1286224"/>
                  </a:lnTo>
                  <a:lnTo>
                    <a:pt x="0" y="1247394"/>
                  </a:lnTo>
                  <a:lnTo>
                    <a:pt x="0" y="99822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5878" y="5225834"/>
              <a:ext cx="334086" cy="417664"/>
            </a:xfrm>
            <a:prstGeom prst="rect">
              <a:avLst/>
            </a:prstGeom>
          </p:spPr>
        </p:pic>
      </p:grpSp>
      <p:sp>
        <p:nvSpPr>
          <p:cNvPr id="18" name="object 18"/>
          <p:cNvSpPr/>
          <p:nvPr/>
        </p:nvSpPr>
        <p:spPr>
          <a:xfrm>
            <a:off x="5813044" y="6093078"/>
            <a:ext cx="7867015" cy="15240"/>
          </a:xfrm>
          <a:custGeom>
            <a:avLst/>
            <a:gdLst/>
            <a:ahLst/>
            <a:cxnLst/>
            <a:rect l="l" t="t" r="r" b="b"/>
            <a:pathLst>
              <a:path w="7867015" h="15239">
                <a:moveTo>
                  <a:pt x="7863586" y="0"/>
                </a:moveTo>
                <a:lnTo>
                  <a:pt x="3301" y="0"/>
                </a:lnTo>
                <a:lnTo>
                  <a:pt x="0" y="3429"/>
                </a:lnTo>
                <a:lnTo>
                  <a:pt x="0" y="7620"/>
                </a:lnTo>
                <a:lnTo>
                  <a:pt x="0" y="11938"/>
                </a:lnTo>
                <a:lnTo>
                  <a:pt x="3301" y="15240"/>
                </a:lnTo>
                <a:lnTo>
                  <a:pt x="7863586" y="15240"/>
                </a:lnTo>
                <a:lnTo>
                  <a:pt x="7867015" y="11938"/>
                </a:lnTo>
                <a:lnTo>
                  <a:pt x="7867015" y="3429"/>
                </a:lnTo>
                <a:lnTo>
                  <a:pt x="7863586" y="0"/>
                </a:lnTo>
                <a:close/>
              </a:path>
            </a:pathLst>
          </a:custGeom>
          <a:solidFill>
            <a:srgbClr val="961B5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827836" y="6223253"/>
            <a:ext cx="6491605" cy="1355090"/>
            <a:chOff x="827836" y="6223253"/>
            <a:chExt cx="6491605" cy="1355090"/>
          </a:xfrm>
        </p:grpSpPr>
        <p:sp>
          <p:nvSpPr>
            <p:cNvPr id="20" name="object 20"/>
            <p:cNvSpPr/>
            <p:nvPr/>
          </p:nvSpPr>
          <p:spPr>
            <a:xfrm>
              <a:off x="831646" y="6227063"/>
              <a:ext cx="6483985" cy="1347470"/>
            </a:xfrm>
            <a:custGeom>
              <a:avLst/>
              <a:gdLst/>
              <a:ahLst/>
              <a:cxnLst/>
              <a:rect l="l" t="t" r="r" b="b"/>
              <a:pathLst>
                <a:path w="6483984" h="1347470">
                  <a:moveTo>
                    <a:pt x="6383731" y="0"/>
                  </a:moveTo>
                  <a:lnTo>
                    <a:pt x="99809" y="0"/>
                  </a:lnTo>
                  <a:lnTo>
                    <a:pt x="60961" y="7846"/>
                  </a:lnTo>
                  <a:lnTo>
                    <a:pt x="29235" y="29241"/>
                  </a:lnTo>
                  <a:lnTo>
                    <a:pt x="7844" y="60971"/>
                  </a:lnTo>
                  <a:lnTo>
                    <a:pt x="0" y="99822"/>
                  </a:lnTo>
                  <a:lnTo>
                    <a:pt x="0" y="1247419"/>
                  </a:lnTo>
                  <a:lnTo>
                    <a:pt x="7844" y="1286265"/>
                  </a:lnTo>
                  <a:lnTo>
                    <a:pt x="29235" y="1317986"/>
                  </a:lnTo>
                  <a:lnTo>
                    <a:pt x="60961" y="1339373"/>
                  </a:lnTo>
                  <a:lnTo>
                    <a:pt x="99809" y="1347216"/>
                  </a:lnTo>
                  <a:lnTo>
                    <a:pt x="6383731" y="1347216"/>
                  </a:lnTo>
                  <a:lnTo>
                    <a:pt x="6422581" y="1339373"/>
                  </a:lnTo>
                  <a:lnTo>
                    <a:pt x="6454311" y="1317986"/>
                  </a:lnTo>
                  <a:lnTo>
                    <a:pt x="6475706" y="1286265"/>
                  </a:lnTo>
                  <a:lnTo>
                    <a:pt x="6483553" y="1247419"/>
                  </a:lnTo>
                  <a:lnTo>
                    <a:pt x="6483553" y="99822"/>
                  </a:lnTo>
                  <a:lnTo>
                    <a:pt x="6475706" y="60971"/>
                  </a:lnTo>
                  <a:lnTo>
                    <a:pt x="6454311" y="29241"/>
                  </a:lnTo>
                  <a:lnTo>
                    <a:pt x="6422581" y="7846"/>
                  </a:lnTo>
                  <a:lnTo>
                    <a:pt x="6383731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31646" y="6227063"/>
              <a:ext cx="6483985" cy="1347470"/>
            </a:xfrm>
            <a:custGeom>
              <a:avLst/>
              <a:gdLst/>
              <a:ahLst/>
              <a:cxnLst/>
              <a:rect l="l" t="t" r="r" b="b"/>
              <a:pathLst>
                <a:path w="6483984" h="1347470">
                  <a:moveTo>
                    <a:pt x="0" y="99822"/>
                  </a:moveTo>
                  <a:lnTo>
                    <a:pt x="7844" y="60971"/>
                  </a:lnTo>
                  <a:lnTo>
                    <a:pt x="29235" y="29241"/>
                  </a:lnTo>
                  <a:lnTo>
                    <a:pt x="60961" y="7846"/>
                  </a:lnTo>
                  <a:lnTo>
                    <a:pt x="99809" y="0"/>
                  </a:lnTo>
                  <a:lnTo>
                    <a:pt x="6383731" y="0"/>
                  </a:lnTo>
                  <a:lnTo>
                    <a:pt x="6422581" y="7846"/>
                  </a:lnTo>
                  <a:lnTo>
                    <a:pt x="6454311" y="29241"/>
                  </a:lnTo>
                  <a:lnTo>
                    <a:pt x="6475706" y="60971"/>
                  </a:lnTo>
                  <a:lnTo>
                    <a:pt x="6483553" y="99822"/>
                  </a:lnTo>
                  <a:lnTo>
                    <a:pt x="6483553" y="1247419"/>
                  </a:lnTo>
                  <a:lnTo>
                    <a:pt x="6475706" y="1286265"/>
                  </a:lnTo>
                  <a:lnTo>
                    <a:pt x="6454311" y="1317986"/>
                  </a:lnTo>
                  <a:lnTo>
                    <a:pt x="6422581" y="1339373"/>
                  </a:lnTo>
                  <a:lnTo>
                    <a:pt x="6383731" y="1347216"/>
                  </a:lnTo>
                  <a:lnTo>
                    <a:pt x="99809" y="1347216"/>
                  </a:lnTo>
                  <a:lnTo>
                    <a:pt x="60961" y="1339373"/>
                  </a:lnTo>
                  <a:lnTo>
                    <a:pt x="29235" y="1317986"/>
                  </a:lnTo>
                  <a:lnTo>
                    <a:pt x="7844" y="1286265"/>
                  </a:lnTo>
                  <a:lnTo>
                    <a:pt x="0" y="1247419"/>
                  </a:lnTo>
                  <a:lnTo>
                    <a:pt x="0" y="99822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06265" y="6691794"/>
              <a:ext cx="334086" cy="417664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2677414" y="2037968"/>
            <a:ext cx="8081009" cy="525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45" dirty="0">
                <a:solidFill>
                  <a:srgbClr val="E4DFDF"/>
                </a:solidFill>
                <a:latin typeface="Trebuchet MS"/>
                <a:cs typeface="Trebuchet MS"/>
              </a:rPr>
              <a:t>Layer</a:t>
            </a:r>
            <a:r>
              <a:rPr sz="2200" b="1" spc="-14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Freezing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Freeze</a:t>
            </a:r>
            <a:r>
              <a:rPr sz="1850" spc="65" dirty="0">
                <a:solidFill>
                  <a:srgbClr val="E4DFDF"/>
                </a:solidFill>
                <a:latin typeface="Microsoft Sans Serif"/>
                <a:cs typeface="Microsoft Sans Serif"/>
              </a:rPr>
              <a:t> 70-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85%</a:t>
            </a:r>
            <a:r>
              <a:rPr sz="1850" spc="8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50" dirty="0">
                <a:solidFill>
                  <a:srgbClr val="E4DFDF"/>
                </a:solidFill>
                <a:latin typeface="Microsoft Sans Serif"/>
                <a:cs typeface="Microsoft Sans Serif"/>
              </a:rPr>
              <a:t>of</a:t>
            </a:r>
            <a:r>
              <a:rPr sz="1850" spc="5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pretrained</a:t>
            </a:r>
            <a:r>
              <a:rPr sz="1850" spc="9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layers</a:t>
            </a:r>
            <a:endParaRPr sz="18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850">
              <a:latin typeface="Microsoft Sans Serif"/>
              <a:cs typeface="Microsoft Sans Serif"/>
            </a:endParaRPr>
          </a:p>
          <a:p>
            <a:pPr marL="1633855">
              <a:lnSpc>
                <a:spcPct val="100000"/>
              </a:lnSpc>
            </a:pPr>
            <a:r>
              <a:rPr sz="2200" b="1" spc="-70" dirty="0">
                <a:solidFill>
                  <a:srgbClr val="E4DFDF"/>
                </a:solidFill>
                <a:latin typeface="Trebuchet MS"/>
                <a:cs typeface="Trebuchet MS"/>
              </a:rPr>
              <a:t>Unfreeze</a:t>
            </a:r>
            <a:r>
              <a:rPr sz="2200" b="1" spc="-14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spc="-55" dirty="0">
                <a:solidFill>
                  <a:srgbClr val="E4DFDF"/>
                </a:solidFill>
                <a:latin typeface="Trebuchet MS"/>
                <a:cs typeface="Trebuchet MS"/>
              </a:rPr>
              <a:t>Top</a:t>
            </a:r>
            <a:r>
              <a:rPr sz="2200" b="1" spc="-13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Layers</a:t>
            </a:r>
            <a:endParaRPr sz="2200">
              <a:latin typeface="Trebuchet MS"/>
              <a:cs typeface="Trebuchet MS"/>
            </a:endParaRPr>
          </a:p>
          <a:p>
            <a:pPr marL="1633855">
              <a:lnSpc>
                <a:spcPct val="100000"/>
              </a:lnSpc>
              <a:spcBef>
                <a:spcPts val="1705"/>
              </a:spcBef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Adapt</a:t>
            </a:r>
            <a:r>
              <a:rPr sz="1850" spc="9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high-level</a:t>
            </a:r>
            <a:r>
              <a:rPr sz="1850" spc="114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50" dirty="0">
                <a:solidFill>
                  <a:srgbClr val="E4DFDF"/>
                </a:solidFill>
                <a:latin typeface="Microsoft Sans Serif"/>
                <a:cs typeface="Microsoft Sans Serif"/>
              </a:rPr>
              <a:t>filters</a:t>
            </a:r>
            <a:r>
              <a:rPr sz="1850" spc="13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90" dirty="0">
                <a:solidFill>
                  <a:srgbClr val="E4DFDF"/>
                </a:solidFill>
                <a:latin typeface="Microsoft Sans Serif"/>
                <a:cs typeface="Microsoft Sans Serif"/>
              </a:rPr>
              <a:t>to</a:t>
            </a:r>
            <a:r>
              <a:rPr sz="1850" spc="10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forgery</a:t>
            </a:r>
            <a:r>
              <a:rPr sz="1850" spc="12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20" dirty="0">
                <a:solidFill>
                  <a:srgbClr val="E4DFDF"/>
                </a:solidFill>
                <a:latin typeface="Microsoft Sans Serif"/>
                <a:cs typeface="Microsoft Sans Serif"/>
              </a:rPr>
              <a:t>cues</a:t>
            </a:r>
            <a:endParaRPr sz="18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850">
              <a:latin typeface="Microsoft Sans Serif"/>
              <a:cs typeface="Microsoft Sans Serif"/>
            </a:endParaRPr>
          </a:p>
          <a:p>
            <a:pPr marL="3254375">
              <a:lnSpc>
                <a:spcPct val="100000"/>
              </a:lnSpc>
            </a:pPr>
            <a:r>
              <a:rPr sz="2200" b="1" spc="-55" dirty="0">
                <a:solidFill>
                  <a:srgbClr val="E4DFDF"/>
                </a:solidFill>
                <a:latin typeface="Trebuchet MS"/>
                <a:cs typeface="Trebuchet MS"/>
              </a:rPr>
              <a:t>Hyperparameter</a:t>
            </a:r>
            <a:r>
              <a:rPr sz="2200" b="1" spc="-11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Tuning</a:t>
            </a:r>
            <a:endParaRPr sz="2200">
              <a:latin typeface="Trebuchet MS"/>
              <a:cs typeface="Trebuchet MS"/>
            </a:endParaRPr>
          </a:p>
          <a:p>
            <a:pPr marL="3254375">
              <a:lnSpc>
                <a:spcPct val="100000"/>
              </a:lnSpc>
              <a:spcBef>
                <a:spcPts val="1710"/>
              </a:spcBef>
            </a:pPr>
            <a:r>
              <a:rPr sz="1850" spc="-80" dirty="0">
                <a:solidFill>
                  <a:srgbClr val="E4DFDF"/>
                </a:solidFill>
                <a:latin typeface="Microsoft Sans Serif"/>
                <a:cs typeface="Microsoft Sans Serif"/>
              </a:rPr>
              <a:t>LR:</a:t>
            </a:r>
            <a:r>
              <a:rPr sz="1850" spc="-6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40" dirty="0">
                <a:solidFill>
                  <a:srgbClr val="E4DFDF"/>
                </a:solidFill>
                <a:latin typeface="Microsoft Sans Serif"/>
                <a:cs typeface="Microsoft Sans Serif"/>
              </a:rPr>
              <a:t>1×10⁻⁴</a:t>
            </a:r>
            <a:r>
              <a:rPr sz="1850" spc="-5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90" dirty="0">
                <a:solidFill>
                  <a:srgbClr val="E4DFDF"/>
                </a:solidFill>
                <a:latin typeface="Microsoft Sans Serif"/>
                <a:cs typeface="Microsoft Sans Serif"/>
              </a:rPr>
              <a:t>to</a:t>
            </a:r>
            <a:r>
              <a:rPr sz="1850" spc="-60" dirty="0">
                <a:solidFill>
                  <a:srgbClr val="E4DFDF"/>
                </a:solidFill>
                <a:latin typeface="Microsoft Sans Serif"/>
                <a:cs typeface="Microsoft Sans Serif"/>
              </a:rPr>
              <a:t> 1×10⁻³,</a:t>
            </a:r>
            <a:r>
              <a:rPr sz="1850" spc="-5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Adam</a:t>
            </a:r>
            <a:r>
              <a:rPr sz="1850" spc="-7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optimizer</a:t>
            </a:r>
            <a:endParaRPr sz="18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850">
              <a:latin typeface="Microsoft Sans Serif"/>
              <a:cs typeface="Microsoft Sans Serif"/>
            </a:endParaRPr>
          </a:p>
          <a:p>
            <a:pPr marL="4876165">
              <a:lnSpc>
                <a:spcPct val="100000"/>
              </a:lnSpc>
            </a:pP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Regularization</a:t>
            </a:r>
            <a:endParaRPr sz="2200">
              <a:latin typeface="Trebuchet MS"/>
              <a:cs typeface="Trebuchet MS"/>
            </a:endParaRPr>
          </a:p>
          <a:p>
            <a:pPr marL="4876165">
              <a:lnSpc>
                <a:spcPct val="100000"/>
              </a:lnSpc>
              <a:spcBef>
                <a:spcPts val="1705"/>
              </a:spcBef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Dropout(0.5)</a:t>
            </a:r>
            <a:r>
              <a:rPr sz="1850" spc="16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in</a:t>
            </a:r>
            <a:r>
              <a:rPr sz="1850" spc="13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classifier</a:t>
            </a:r>
            <a:r>
              <a:rPr sz="1850" spc="18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20" dirty="0">
                <a:solidFill>
                  <a:srgbClr val="E4DFDF"/>
                </a:solidFill>
                <a:latin typeface="Microsoft Sans Serif"/>
                <a:cs typeface="Microsoft Sans Serif"/>
              </a:rPr>
              <a:t>head</a:t>
            </a:r>
            <a:endParaRPr sz="1850">
              <a:latin typeface="Microsoft Sans Serif"/>
              <a:cs typeface="Microsoft Sans Serif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319B54F-EB2D-7968-D626-11D951F08F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99656" y="7772400"/>
            <a:ext cx="2119314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7646" y="564895"/>
            <a:ext cx="5224780" cy="658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50" dirty="0"/>
              <a:t>Soft-</a:t>
            </a:r>
            <a:r>
              <a:rPr sz="4150" spc="-30" dirty="0"/>
              <a:t>Voting</a:t>
            </a:r>
            <a:r>
              <a:rPr sz="4150" spc="-40" dirty="0"/>
              <a:t> </a:t>
            </a:r>
            <a:r>
              <a:rPr sz="4150" spc="-25" dirty="0"/>
              <a:t>Ensemble</a:t>
            </a:r>
            <a:endParaRPr sz="41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218" y="1736979"/>
            <a:ext cx="6372582" cy="474002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41870" y="2438400"/>
            <a:ext cx="7136130" cy="20518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Formula:</a:t>
            </a:r>
            <a:r>
              <a:rPr sz="2400" spc="-4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2400" spc="75" dirty="0">
                <a:solidFill>
                  <a:srgbClr val="E4DFDF"/>
                </a:solidFill>
                <a:latin typeface="Microsoft Sans Serif"/>
                <a:cs typeface="Microsoft Sans Serif"/>
              </a:rPr>
              <a:t>pₛ(x)=</a:t>
            </a:r>
            <a:r>
              <a:rPr sz="2400" spc="-5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E4DFDF"/>
                </a:solidFill>
                <a:latin typeface="Microsoft Sans Serif"/>
                <a:cs typeface="Microsoft Sans Serif"/>
              </a:rPr>
              <a:t>(1/5)∑₁⁵</a:t>
            </a:r>
            <a:r>
              <a:rPr sz="2400" spc="-5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E4DFDF"/>
                </a:solidFill>
                <a:latin typeface="Microsoft Sans Serif"/>
                <a:cs typeface="Microsoft Sans Serif"/>
              </a:rPr>
              <a:t>p</a:t>
            </a:r>
            <a:r>
              <a:rPr sz="2400" spc="-20" dirty="0">
                <a:solidFill>
                  <a:srgbClr val="E4DFDF"/>
                </a:solidFill>
                <a:latin typeface="Times New Roman"/>
                <a:cs typeface="Times New Roman"/>
              </a:rPr>
              <a:t>ᵢ</a:t>
            </a:r>
            <a:r>
              <a:rPr sz="2400" spc="-20" dirty="0">
                <a:solidFill>
                  <a:srgbClr val="E4DFDF"/>
                </a:solidFill>
                <a:latin typeface="Microsoft Sans Serif"/>
                <a:cs typeface="Microsoft Sans Serif"/>
              </a:rPr>
              <a:t>(x)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24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20" dirty="0">
                <a:solidFill>
                  <a:srgbClr val="E4DFDF"/>
                </a:solidFill>
                <a:latin typeface="Microsoft Sans Serif"/>
                <a:cs typeface="Microsoft Sans Serif"/>
              </a:rPr>
              <a:t>Decision:</a:t>
            </a:r>
            <a:r>
              <a:rPr sz="2400" spc="-5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2400" spc="-45" dirty="0">
                <a:solidFill>
                  <a:srgbClr val="E4DFDF"/>
                </a:solidFill>
                <a:latin typeface="Microsoft Sans Serif"/>
                <a:cs typeface="Microsoft Sans Serif"/>
              </a:rPr>
              <a:t>Fake</a:t>
            </a:r>
            <a:r>
              <a:rPr sz="2400" spc="-6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2400" spc="65" dirty="0">
                <a:solidFill>
                  <a:srgbClr val="E4DFDF"/>
                </a:solidFill>
                <a:latin typeface="Microsoft Sans Serif"/>
                <a:cs typeface="Microsoft Sans Serif"/>
              </a:rPr>
              <a:t>if</a:t>
            </a:r>
            <a:r>
              <a:rPr sz="2400" spc="-4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2400" spc="55" dirty="0">
                <a:solidFill>
                  <a:srgbClr val="E4DFDF"/>
                </a:solidFill>
                <a:latin typeface="Microsoft Sans Serif"/>
                <a:cs typeface="Microsoft Sans Serif"/>
              </a:rPr>
              <a:t>pₛₒ</a:t>
            </a:r>
            <a:r>
              <a:rPr sz="2400" spc="55" dirty="0">
                <a:solidFill>
                  <a:srgbClr val="E4DFDF"/>
                </a:solidFill>
                <a:latin typeface="Times New Roman"/>
                <a:cs typeface="Times New Roman"/>
              </a:rPr>
              <a:t>ᵥ</a:t>
            </a:r>
            <a:r>
              <a:rPr sz="2400" spc="55" dirty="0">
                <a:solidFill>
                  <a:srgbClr val="E4DFDF"/>
                </a:solidFill>
                <a:latin typeface="Microsoft Sans Serif"/>
                <a:cs typeface="Microsoft Sans Serif"/>
              </a:rPr>
              <a:t>ₜ(x)&gt;0.5,</a:t>
            </a:r>
            <a:r>
              <a:rPr sz="2400" spc="-5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else</a:t>
            </a:r>
            <a:r>
              <a:rPr sz="2400" spc="-4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E4DFDF"/>
                </a:solidFill>
                <a:latin typeface="Microsoft Sans Serif"/>
                <a:cs typeface="Microsoft Sans Serif"/>
              </a:rPr>
              <a:t>Real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24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E4DFDF"/>
                </a:solidFill>
                <a:latin typeface="Microsoft Sans Serif"/>
                <a:cs typeface="Microsoft Sans Serif"/>
              </a:rPr>
              <a:t>Result:</a:t>
            </a:r>
            <a:r>
              <a:rPr sz="2400" spc="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E4DFDF"/>
                </a:solidFill>
                <a:latin typeface="Microsoft Sans Serif"/>
                <a:cs typeface="Microsoft Sans Serif"/>
              </a:rPr>
              <a:t>47.0%</a:t>
            </a:r>
            <a:r>
              <a:rPr sz="2400" spc="1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accuracy,</a:t>
            </a:r>
            <a:r>
              <a:rPr sz="2400" spc="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E4DFDF"/>
                </a:solidFill>
                <a:latin typeface="Microsoft Sans Serif"/>
                <a:cs typeface="Microsoft Sans Serif"/>
              </a:rPr>
              <a:t>AUC=0.50</a:t>
            </a:r>
            <a:r>
              <a:rPr sz="2400" spc="-1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E4DFDF"/>
                </a:solidFill>
                <a:latin typeface="Microsoft Sans Serif"/>
                <a:cs typeface="Microsoft Sans Serif"/>
              </a:rPr>
              <a:t>on hold-</a:t>
            </a:r>
            <a:r>
              <a:rPr sz="2400" spc="55" dirty="0">
                <a:solidFill>
                  <a:srgbClr val="E4DFDF"/>
                </a:solidFill>
                <a:latin typeface="Microsoft Sans Serif"/>
                <a:cs typeface="Microsoft Sans Serif"/>
              </a:rPr>
              <a:t>out</a:t>
            </a:r>
            <a:r>
              <a:rPr sz="2400" spc="3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E4DFDF"/>
                </a:solidFill>
                <a:latin typeface="Microsoft Sans Serif"/>
                <a:cs typeface="Microsoft Sans Serif"/>
              </a:rPr>
              <a:t>set</a:t>
            </a:r>
            <a:endParaRPr sz="2400" dirty="0">
              <a:latin typeface="Microsoft Sans Serif"/>
              <a:cs typeface="Microsoft Sans Serif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540C8A-4BA2-B6CF-965D-01A605FDB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9656" y="7772400"/>
            <a:ext cx="2119314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9921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25195" y="3818635"/>
            <a:ext cx="70231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FFFFFF"/>
                </a:solidFill>
                <a:latin typeface="Trebuchet MS"/>
                <a:cs typeface="Trebuchet MS"/>
              </a:rPr>
              <a:t>Stacking</a:t>
            </a:r>
            <a:r>
              <a:rPr sz="4400" b="1" spc="-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00" b="1" spc="-60" dirty="0">
                <a:solidFill>
                  <a:srgbClr val="FFFFFF"/>
                </a:solidFill>
                <a:latin typeface="Trebuchet MS"/>
                <a:cs typeface="Trebuchet MS"/>
              </a:rPr>
              <a:t>Ensemble</a:t>
            </a:r>
            <a:r>
              <a:rPr sz="4400" b="1" spc="-2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00" b="1" spc="-30" dirty="0">
                <a:solidFill>
                  <a:srgbClr val="FFFFFF"/>
                </a:solidFill>
                <a:latin typeface="Trebuchet MS"/>
                <a:cs typeface="Trebuchet MS"/>
              </a:rPr>
              <a:t>Concept</a:t>
            </a:r>
            <a:endParaRPr sz="44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3920" y="4938395"/>
            <a:ext cx="546735" cy="546100"/>
            <a:chOff x="833920" y="4938395"/>
            <a:chExt cx="546735" cy="546100"/>
          </a:xfrm>
        </p:grpSpPr>
        <p:sp>
          <p:nvSpPr>
            <p:cNvPr id="5" name="object 5"/>
            <p:cNvSpPr/>
            <p:nvPr/>
          </p:nvSpPr>
          <p:spPr>
            <a:xfrm>
              <a:off x="837730" y="4942205"/>
              <a:ext cx="539115" cy="538480"/>
            </a:xfrm>
            <a:custGeom>
              <a:avLst/>
              <a:gdLst/>
              <a:ahLst/>
              <a:cxnLst/>
              <a:rect l="l" t="t" r="r" b="b"/>
              <a:pathLst>
                <a:path w="539115" h="538479">
                  <a:moveTo>
                    <a:pt x="437984" y="0"/>
                  </a:moveTo>
                  <a:lnTo>
                    <a:pt x="100533" y="0"/>
                  </a:lnTo>
                  <a:lnTo>
                    <a:pt x="61400" y="7891"/>
                  </a:lnTo>
                  <a:lnTo>
                    <a:pt x="29444" y="29416"/>
                  </a:lnTo>
                  <a:lnTo>
                    <a:pt x="7900" y="61346"/>
                  </a:lnTo>
                  <a:lnTo>
                    <a:pt x="0" y="100457"/>
                  </a:lnTo>
                  <a:lnTo>
                    <a:pt x="0" y="437896"/>
                  </a:lnTo>
                  <a:lnTo>
                    <a:pt x="7900" y="477079"/>
                  </a:lnTo>
                  <a:lnTo>
                    <a:pt x="29444" y="509047"/>
                  </a:lnTo>
                  <a:lnTo>
                    <a:pt x="61400" y="530586"/>
                  </a:lnTo>
                  <a:lnTo>
                    <a:pt x="100533" y="538480"/>
                  </a:lnTo>
                  <a:lnTo>
                    <a:pt x="437984" y="538480"/>
                  </a:lnTo>
                  <a:lnTo>
                    <a:pt x="477114" y="530586"/>
                  </a:lnTo>
                  <a:lnTo>
                    <a:pt x="509089" y="509047"/>
                  </a:lnTo>
                  <a:lnTo>
                    <a:pt x="530657" y="477079"/>
                  </a:lnTo>
                  <a:lnTo>
                    <a:pt x="538568" y="437896"/>
                  </a:lnTo>
                  <a:lnTo>
                    <a:pt x="538568" y="100457"/>
                  </a:lnTo>
                  <a:lnTo>
                    <a:pt x="530657" y="61346"/>
                  </a:lnTo>
                  <a:lnTo>
                    <a:pt x="509089" y="29416"/>
                  </a:lnTo>
                  <a:lnTo>
                    <a:pt x="477114" y="7891"/>
                  </a:lnTo>
                  <a:lnTo>
                    <a:pt x="437984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7730" y="4942205"/>
              <a:ext cx="539115" cy="538480"/>
            </a:xfrm>
            <a:custGeom>
              <a:avLst/>
              <a:gdLst/>
              <a:ahLst/>
              <a:cxnLst/>
              <a:rect l="l" t="t" r="r" b="b"/>
              <a:pathLst>
                <a:path w="539115" h="538479">
                  <a:moveTo>
                    <a:pt x="0" y="100457"/>
                  </a:moveTo>
                  <a:lnTo>
                    <a:pt x="7900" y="61346"/>
                  </a:lnTo>
                  <a:lnTo>
                    <a:pt x="29444" y="29416"/>
                  </a:lnTo>
                  <a:lnTo>
                    <a:pt x="61400" y="7891"/>
                  </a:lnTo>
                  <a:lnTo>
                    <a:pt x="100533" y="0"/>
                  </a:lnTo>
                  <a:lnTo>
                    <a:pt x="437984" y="0"/>
                  </a:lnTo>
                  <a:lnTo>
                    <a:pt x="477114" y="7891"/>
                  </a:lnTo>
                  <a:lnTo>
                    <a:pt x="509089" y="29416"/>
                  </a:lnTo>
                  <a:lnTo>
                    <a:pt x="530657" y="61346"/>
                  </a:lnTo>
                  <a:lnTo>
                    <a:pt x="538568" y="100457"/>
                  </a:lnTo>
                  <a:lnTo>
                    <a:pt x="538568" y="437896"/>
                  </a:lnTo>
                  <a:lnTo>
                    <a:pt x="530657" y="477079"/>
                  </a:lnTo>
                  <a:lnTo>
                    <a:pt x="509089" y="509047"/>
                  </a:lnTo>
                  <a:lnTo>
                    <a:pt x="477114" y="530586"/>
                  </a:lnTo>
                  <a:lnTo>
                    <a:pt x="437984" y="538480"/>
                  </a:lnTo>
                  <a:lnTo>
                    <a:pt x="100533" y="538480"/>
                  </a:lnTo>
                  <a:lnTo>
                    <a:pt x="61400" y="530586"/>
                  </a:lnTo>
                  <a:lnTo>
                    <a:pt x="29444" y="509047"/>
                  </a:lnTo>
                  <a:lnTo>
                    <a:pt x="7900" y="477079"/>
                  </a:lnTo>
                  <a:lnTo>
                    <a:pt x="0" y="437896"/>
                  </a:lnTo>
                  <a:lnTo>
                    <a:pt x="0" y="100457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02994" y="4996053"/>
            <a:ext cx="4618355" cy="862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E4DFDF"/>
                </a:solidFill>
                <a:latin typeface="Trebuchet MS"/>
                <a:cs typeface="Trebuchet MS"/>
              </a:rPr>
              <a:t>Meta-</a:t>
            </a: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Features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Five</a:t>
            </a:r>
            <a:r>
              <a:rPr sz="1850" spc="5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65" dirty="0">
                <a:solidFill>
                  <a:srgbClr val="E4DFDF"/>
                </a:solidFill>
                <a:latin typeface="Microsoft Sans Serif"/>
                <a:cs typeface="Microsoft Sans Serif"/>
              </a:rPr>
              <a:t>CNN</a:t>
            </a:r>
            <a:r>
              <a:rPr sz="1850" spc="5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probabilities</a:t>
            </a:r>
            <a:r>
              <a:rPr sz="1850" spc="9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55" dirty="0">
                <a:solidFill>
                  <a:srgbClr val="E4DFDF"/>
                </a:solidFill>
                <a:latin typeface="Microsoft Sans Serif"/>
                <a:cs typeface="Microsoft Sans Serif"/>
              </a:rPr>
              <a:t>form</a:t>
            </a:r>
            <a:r>
              <a:rPr sz="1850" spc="6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vector</a:t>
            </a:r>
            <a:r>
              <a:rPr sz="1850" spc="7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60" dirty="0">
                <a:solidFill>
                  <a:srgbClr val="E4DFDF"/>
                </a:solidFill>
                <a:latin typeface="Microsoft Sans Serif"/>
                <a:cs typeface="Microsoft Sans Serif"/>
              </a:rPr>
              <a:t>[p₁,…,p₅]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460995" y="4938395"/>
            <a:ext cx="546735" cy="546100"/>
            <a:chOff x="7460995" y="4938395"/>
            <a:chExt cx="546735" cy="546100"/>
          </a:xfrm>
        </p:grpSpPr>
        <p:sp>
          <p:nvSpPr>
            <p:cNvPr id="9" name="object 9"/>
            <p:cNvSpPr/>
            <p:nvPr/>
          </p:nvSpPr>
          <p:spPr>
            <a:xfrm>
              <a:off x="7464805" y="4942205"/>
              <a:ext cx="539115" cy="538480"/>
            </a:xfrm>
            <a:custGeom>
              <a:avLst/>
              <a:gdLst/>
              <a:ahLst/>
              <a:cxnLst/>
              <a:rect l="l" t="t" r="r" b="b"/>
              <a:pathLst>
                <a:path w="539115" h="538479">
                  <a:moveTo>
                    <a:pt x="438023" y="0"/>
                  </a:moveTo>
                  <a:lnTo>
                    <a:pt x="100584" y="0"/>
                  </a:lnTo>
                  <a:lnTo>
                    <a:pt x="61454" y="7891"/>
                  </a:lnTo>
                  <a:lnTo>
                    <a:pt x="29479" y="29416"/>
                  </a:lnTo>
                  <a:lnTo>
                    <a:pt x="7911" y="61346"/>
                  </a:lnTo>
                  <a:lnTo>
                    <a:pt x="0" y="100457"/>
                  </a:lnTo>
                  <a:lnTo>
                    <a:pt x="0" y="437896"/>
                  </a:lnTo>
                  <a:lnTo>
                    <a:pt x="7911" y="477079"/>
                  </a:lnTo>
                  <a:lnTo>
                    <a:pt x="29479" y="509047"/>
                  </a:lnTo>
                  <a:lnTo>
                    <a:pt x="61454" y="530586"/>
                  </a:lnTo>
                  <a:lnTo>
                    <a:pt x="100584" y="538480"/>
                  </a:lnTo>
                  <a:lnTo>
                    <a:pt x="438023" y="538480"/>
                  </a:lnTo>
                  <a:lnTo>
                    <a:pt x="477152" y="530586"/>
                  </a:lnTo>
                  <a:lnTo>
                    <a:pt x="509127" y="509047"/>
                  </a:lnTo>
                  <a:lnTo>
                    <a:pt x="530695" y="477079"/>
                  </a:lnTo>
                  <a:lnTo>
                    <a:pt x="538607" y="437896"/>
                  </a:lnTo>
                  <a:lnTo>
                    <a:pt x="538607" y="100457"/>
                  </a:lnTo>
                  <a:lnTo>
                    <a:pt x="530695" y="61346"/>
                  </a:lnTo>
                  <a:lnTo>
                    <a:pt x="509127" y="29416"/>
                  </a:lnTo>
                  <a:lnTo>
                    <a:pt x="477152" y="7891"/>
                  </a:lnTo>
                  <a:lnTo>
                    <a:pt x="438023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64805" y="4942205"/>
              <a:ext cx="539115" cy="538480"/>
            </a:xfrm>
            <a:custGeom>
              <a:avLst/>
              <a:gdLst/>
              <a:ahLst/>
              <a:cxnLst/>
              <a:rect l="l" t="t" r="r" b="b"/>
              <a:pathLst>
                <a:path w="539115" h="538479">
                  <a:moveTo>
                    <a:pt x="0" y="100457"/>
                  </a:moveTo>
                  <a:lnTo>
                    <a:pt x="7911" y="61346"/>
                  </a:lnTo>
                  <a:lnTo>
                    <a:pt x="29479" y="29416"/>
                  </a:lnTo>
                  <a:lnTo>
                    <a:pt x="61454" y="7891"/>
                  </a:lnTo>
                  <a:lnTo>
                    <a:pt x="100584" y="0"/>
                  </a:lnTo>
                  <a:lnTo>
                    <a:pt x="438023" y="0"/>
                  </a:lnTo>
                  <a:lnTo>
                    <a:pt x="477152" y="7891"/>
                  </a:lnTo>
                  <a:lnTo>
                    <a:pt x="509127" y="29416"/>
                  </a:lnTo>
                  <a:lnTo>
                    <a:pt x="530695" y="61346"/>
                  </a:lnTo>
                  <a:lnTo>
                    <a:pt x="538607" y="100457"/>
                  </a:lnTo>
                  <a:lnTo>
                    <a:pt x="538607" y="437896"/>
                  </a:lnTo>
                  <a:lnTo>
                    <a:pt x="530695" y="477079"/>
                  </a:lnTo>
                  <a:lnTo>
                    <a:pt x="509127" y="509047"/>
                  </a:lnTo>
                  <a:lnTo>
                    <a:pt x="477152" y="530586"/>
                  </a:lnTo>
                  <a:lnTo>
                    <a:pt x="438023" y="538480"/>
                  </a:lnTo>
                  <a:lnTo>
                    <a:pt x="100584" y="538480"/>
                  </a:lnTo>
                  <a:lnTo>
                    <a:pt x="61454" y="530586"/>
                  </a:lnTo>
                  <a:lnTo>
                    <a:pt x="29479" y="509047"/>
                  </a:lnTo>
                  <a:lnTo>
                    <a:pt x="7911" y="477079"/>
                  </a:lnTo>
                  <a:lnTo>
                    <a:pt x="0" y="437896"/>
                  </a:lnTo>
                  <a:lnTo>
                    <a:pt x="0" y="100457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230869" y="4996053"/>
            <a:ext cx="3359150" cy="862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E4DFDF"/>
                </a:solidFill>
                <a:latin typeface="Trebuchet MS"/>
                <a:cs typeface="Trebuchet MS"/>
              </a:rPr>
              <a:t>Meta-</a:t>
            </a: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Learner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Learns</a:t>
            </a:r>
            <a:r>
              <a:rPr sz="1850" spc="1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nonlinear</a:t>
            </a:r>
            <a:r>
              <a:rPr sz="1850" spc="3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fusion</a:t>
            </a:r>
            <a:r>
              <a:rPr sz="1850" spc="1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weights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33920" y="6377940"/>
            <a:ext cx="546735" cy="546100"/>
            <a:chOff x="833920" y="6377940"/>
            <a:chExt cx="546735" cy="546100"/>
          </a:xfrm>
        </p:grpSpPr>
        <p:sp>
          <p:nvSpPr>
            <p:cNvPr id="13" name="object 13"/>
            <p:cNvSpPr/>
            <p:nvPr/>
          </p:nvSpPr>
          <p:spPr>
            <a:xfrm>
              <a:off x="837730" y="6381750"/>
              <a:ext cx="539115" cy="538480"/>
            </a:xfrm>
            <a:custGeom>
              <a:avLst/>
              <a:gdLst/>
              <a:ahLst/>
              <a:cxnLst/>
              <a:rect l="l" t="t" r="r" b="b"/>
              <a:pathLst>
                <a:path w="539115" h="538479">
                  <a:moveTo>
                    <a:pt x="437984" y="0"/>
                  </a:moveTo>
                  <a:lnTo>
                    <a:pt x="100533" y="0"/>
                  </a:lnTo>
                  <a:lnTo>
                    <a:pt x="61400" y="7893"/>
                  </a:lnTo>
                  <a:lnTo>
                    <a:pt x="29444" y="29432"/>
                  </a:lnTo>
                  <a:lnTo>
                    <a:pt x="7900" y="61400"/>
                  </a:lnTo>
                  <a:lnTo>
                    <a:pt x="0" y="100583"/>
                  </a:lnTo>
                  <a:lnTo>
                    <a:pt x="0" y="438022"/>
                  </a:lnTo>
                  <a:lnTo>
                    <a:pt x="7900" y="477133"/>
                  </a:lnTo>
                  <a:lnTo>
                    <a:pt x="29444" y="509063"/>
                  </a:lnTo>
                  <a:lnTo>
                    <a:pt x="61400" y="530588"/>
                  </a:lnTo>
                  <a:lnTo>
                    <a:pt x="100533" y="538480"/>
                  </a:lnTo>
                  <a:lnTo>
                    <a:pt x="437984" y="538480"/>
                  </a:lnTo>
                  <a:lnTo>
                    <a:pt x="477114" y="530588"/>
                  </a:lnTo>
                  <a:lnTo>
                    <a:pt x="509089" y="509063"/>
                  </a:lnTo>
                  <a:lnTo>
                    <a:pt x="530657" y="477133"/>
                  </a:lnTo>
                  <a:lnTo>
                    <a:pt x="538568" y="438022"/>
                  </a:lnTo>
                  <a:lnTo>
                    <a:pt x="538568" y="100583"/>
                  </a:lnTo>
                  <a:lnTo>
                    <a:pt x="530657" y="61400"/>
                  </a:lnTo>
                  <a:lnTo>
                    <a:pt x="509089" y="29432"/>
                  </a:lnTo>
                  <a:lnTo>
                    <a:pt x="477114" y="7893"/>
                  </a:lnTo>
                  <a:lnTo>
                    <a:pt x="437984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7730" y="6381750"/>
              <a:ext cx="539115" cy="538480"/>
            </a:xfrm>
            <a:custGeom>
              <a:avLst/>
              <a:gdLst/>
              <a:ahLst/>
              <a:cxnLst/>
              <a:rect l="l" t="t" r="r" b="b"/>
              <a:pathLst>
                <a:path w="539115" h="538479">
                  <a:moveTo>
                    <a:pt x="0" y="100583"/>
                  </a:moveTo>
                  <a:lnTo>
                    <a:pt x="7900" y="61400"/>
                  </a:lnTo>
                  <a:lnTo>
                    <a:pt x="29444" y="29432"/>
                  </a:lnTo>
                  <a:lnTo>
                    <a:pt x="61400" y="7893"/>
                  </a:lnTo>
                  <a:lnTo>
                    <a:pt x="100533" y="0"/>
                  </a:lnTo>
                  <a:lnTo>
                    <a:pt x="437984" y="0"/>
                  </a:lnTo>
                  <a:lnTo>
                    <a:pt x="477114" y="7893"/>
                  </a:lnTo>
                  <a:lnTo>
                    <a:pt x="509089" y="29432"/>
                  </a:lnTo>
                  <a:lnTo>
                    <a:pt x="530657" y="61400"/>
                  </a:lnTo>
                  <a:lnTo>
                    <a:pt x="538568" y="100583"/>
                  </a:lnTo>
                  <a:lnTo>
                    <a:pt x="538568" y="438022"/>
                  </a:lnTo>
                  <a:lnTo>
                    <a:pt x="530657" y="477133"/>
                  </a:lnTo>
                  <a:lnTo>
                    <a:pt x="509089" y="509063"/>
                  </a:lnTo>
                  <a:lnTo>
                    <a:pt x="477114" y="530588"/>
                  </a:lnTo>
                  <a:lnTo>
                    <a:pt x="437984" y="538480"/>
                  </a:lnTo>
                  <a:lnTo>
                    <a:pt x="100533" y="538480"/>
                  </a:lnTo>
                  <a:lnTo>
                    <a:pt x="61400" y="530588"/>
                  </a:lnTo>
                  <a:lnTo>
                    <a:pt x="29444" y="509063"/>
                  </a:lnTo>
                  <a:lnTo>
                    <a:pt x="7900" y="477133"/>
                  </a:lnTo>
                  <a:lnTo>
                    <a:pt x="0" y="438022"/>
                  </a:lnTo>
                  <a:lnTo>
                    <a:pt x="0" y="100583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602994" y="6435978"/>
            <a:ext cx="4033520" cy="862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E4DFDF"/>
                </a:solidFill>
                <a:latin typeface="Trebuchet MS"/>
                <a:cs typeface="Trebuchet MS"/>
              </a:rPr>
              <a:t>Cross-</a:t>
            </a: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Validation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1850" spc="110" dirty="0">
                <a:solidFill>
                  <a:srgbClr val="E4DFDF"/>
                </a:solidFill>
                <a:latin typeface="Microsoft Sans Serif"/>
                <a:cs typeface="Microsoft Sans Serif"/>
              </a:rPr>
              <a:t>5-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fold</a:t>
            </a:r>
            <a:r>
              <a:rPr sz="1850" spc="9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stacking</a:t>
            </a:r>
            <a:r>
              <a:rPr sz="1850" spc="9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prevents</a:t>
            </a:r>
            <a:r>
              <a:rPr sz="1850" spc="10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label</a:t>
            </a:r>
            <a:r>
              <a:rPr sz="1850" spc="10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leakage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460995" y="6377940"/>
            <a:ext cx="546735" cy="546100"/>
            <a:chOff x="7460995" y="6377940"/>
            <a:chExt cx="546735" cy="546100"/>
          </a:xfrm>
        </p:grpSpPr>
        <p:sp>
          <p:nvSpPr>
            <p:cNvPr id="17" name="object 17"/>
            <p:cNvSpPr/>
            <p:nvPr/>
          </p:nvSpPr>
          <p:spPr>
            <a:xfrm>
              <a:off x="7464805" y="6381750"/>
              <a:ext cx="539115" cy="538480"/>
            </a:xfrm>
            <a:custGeom>
              <a:avLst/>
              <a:gdLst/>
              <a:ahLst/>
              <a:cxnLst/>
              <a:rect l="l" t="t" r="r" b="b"/>
              <a:pathLst>
                <a:path w="539115" h="538479">
                  <a:moveTo>
                    <a:pt x="438023" y="0"/>
                  </a:moveTo>
                  <a:lnTo>
                    <a:pt x="100584" y="0"/>
                  </a:lnTo>
                  <a:lnTo>
                    <a:pt x="61454" y="7893"/>
                  </a:lnTo>
                  <a:lnTo>
                    <a:pt x="29479" y="29432"/>
                  </a:lnTo>
                  <a:lnTo>
                    <a:pt x="7911" y="61400"/>
                  </a:lnTo>
                  <a:lnTo>
                    <a:pt x="0" y="100583"/>
                  </a:lnTo>
                  <a:lnTo>
                    <a:pt x="0" y="438022"/>
                  </a:lnTo>
                  <a:lnTo>
                    <a:pt x="7911" y="477133"/>
                  </a:lnTo>
                  <a:lnTo>
                    <a:pt x="29479" y="509063"/>
                  </a:lnTo>
                  <a:lnTo>
                    <a:pt x="61454" y="530588"/>
                  </a:lnTo>
                  <a:lnTo>
                    <a:pt x="100584" y="538480"/>
                  </a:lnTo>
                  <a:lnTo>
                    <a:pt x="438023" y="538480"/>
                  </a:lnTo>
                  <a:lnTo>
                    <a:pt x="477152" y="530588"/>
                  </a:lnTo>
                  <a:lnTo>
                    <a:pt x="509127" y="509063"/>
                  </a:lnTo>
                  <a:lnTo>
                    <a:pt x="530695" y="477133"/>
                  </a:lnTo>
                  <a:lnTo>
                    <a:pt x="538607" y="438022"/>
                  </a:lnTo>
                  <a:lnTo>
                    <a:pt x="538607" y="100583"/>
                  </a:lnTo>
                  <a:lnTo>
                    <a:pt x="530695" y="61400"/>
                  </a:lnTo>
                  <a:lnTo>
                    <a:pt x="509127" y="29432"/>
                  </a:lnTo>
                  <a:lnTo>
                    <a:pt x="477152" y="7893"/>
                  </a:lnTo>
                  <a:lnTo>
                    <a:pt x="438023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64805" y="6381750"/>
              <a:ext cx="539115" cy="538480"/>
            </a:xfrm>
            <a:custGeom>
              <a:avLst/>
              <a:gdLst/>
              <a:ahLst/>
              <a:cxnLst/>
              <a:rect l="l" t="t" r="r" b="b"/>
              <a:pathLst>
                <a:path w="539115" h="538479">
                  <a:moveTo>
                    <a:pt x="0" y="100583"/>
                  </a:moveTo>
                  <a:lnTo>
                    <a:pt x="7911" y="61400"/>
                  </a:lnTo>
                  <a:lnTo>
                    <a:pt x="29479" y="29432"/>
                  </a:lnTo>
                  <a:lnTo>
                    <a:pt x="61454" y="7893"/>
                  </a:lnTo>
                  <a:lnTo>
                    <a:pt x="100584" y="0"/>
                  </a:lnTo>
                  <a:lnTo>
                    <a:pt x="438023" y="0"/>
                  </a:lnTo>
                  <a:lnTo>
                    <a:pt x="477152" y="7893"/>
                  </a:lnTo>
                  <a:lnTo>
                    <a:pt x="509127" y="29432"/>
                  </a:lnTo>
                  <a:lnTo>
                    <a:pt x="530695" y="61400"/>
                  </a:lnTo>
                  <a:lnTo>
                    <a:pt x="538607" y="100583"/>
                  </a:lnTo>
                  <a:lnTo>
                    <a:pt x="538607" y="438022"/>
                  </a:lnTo>
                  <a:lnTo>
                    <a:pt x="530695" y="477133"/>
                  </a:lnTo>
                  <a:lnTo>
                    <a:pt x="509127" y="509063"/>
                  </a:lnTo>
                  <a:lnTo>
                    <a:pt x="477152" y="530588"/>
                  </a:lnTo>
                  <a:lnTo>
                    <a:pt x="438023" y="538480"/>
                  </a:lnTo>
                  <a:lnTo>
                    <a:pt x="100584" y="538480"/>
                  </a:lnTo>
                  <a:lnTo>
                    <a:pt x="61454" y="530588"/>
                  </a:lnTo>
                  <a:lnTo>
                    <a:pt x="29479" y="509063"/>
                  </a:lnTo>
                  <a:lnTo>
                    <a:pt x="7911" y="477133"/>
                  </a:lnTo>
                  <a:lnTo>
                    <a:pt x="0" y="438022"/>
                  </a:lnTo>
                  <a:lnTo>
                    <a:pt x="0" y="100583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230869" y="6435978"/>
            <a:ext cx="3536315" cy="862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Key</a:t>
            </a:r>
            <a:r>
              <a:rPr sz="2200" b="1" spc="-14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Insight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Stacking</a:t>
            </a:r>
            <a:r>
              <a:rPr sz="1850" spc="229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outperforms</a:t>
            </a:r>
            <a:r>
              <a:rPr sz="1850" spc="23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60" dirty="0">
                <a:solidFill>
                  <a:srgbClr val="E4DFDF"/>
                </a:solidFill>
                <a:latin typeface="Microsoft Sans Serif"/>
                <a:cs typeface="Microsoft Sans Serif"/>
              </a:rPr>
              <a:t>soft-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voting</a:t>
            </a:r>
            <a:endParaRPr sz="1850">
              <a:latin typeface="Microsoft Sans Serif"/>
              <a:cs typeface="Microsoft Sans Serif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B76E36C-3B3F-F491-799C-CDB82A5A5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9656" y="7772400"/>
            <a:ext cx="2119314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959" rIns="0" bIns="0" rtlCol="0">
            <a:spAutoFit/>
          </a:bodyPr>
          <a:lstStyle/>
          <a:p>
            <a:pPr marL="559498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Meta-</a:t>
            </a:r>
            <a:r>
              <a:rPr sz="4400" spc="-120" dirty="0"/>
              <a:t>Feature</a:t>
            </a:r>
            <a:r>
              <a:rPr sz="4400" spc="-180" dirty="0"/>
              <a:t> </a:t>
            </a:r>
            <a:r>
              <a:rPr sz="4400" spc="-50" dirty="0"/>
              <a:t>Construction</a:t>
            </a:r>
            <a:endParaRPr sz="44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24091" y="1773808"/>
            <a:ext cx="1196809" cy="57449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67904" y="1983993"/>
            <a:ext cx="3512185" cy="5172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25" dirty="0">
                <a:solidFill>
                  <a:srgbClr val="E4DFDF"/>
                </a:solidFill>
                <a:latin typeface="Trebuchet MS"/>
                <a:cs typeface="Trebuchet MS"/>
              </a:rPr>
              <a:t>Preprocess</a:t>
            </a:r>
            <a:r>
              <a:rPr sz="2200" b="1" spc="-11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frame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Per-</a:t>
            </a:r>
            <a:r>
              <a:rPr sz="1850" spc="-65" dirty="0">
                <a:solidFill>
                  <a:srgbClr val="E4DFDF"/>
                </a:solidFill>
                <a:latin typeface="Microsoft Sans Serif"/>
                <a:cs typeface="Microsoft Sans Serif"/>
              </a:rPr>
              <a:t>CNN</a:t>
            </a:r>
            <a:r>
              <a:rPr sz="1850" spc="7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requirements</a:t>
            </a:r>
            <a:endParaRPr sz="18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8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200" b="1" spc="-45" dirty="0">
                <a:solidFill>
                  <a:srgbClr val="E4DFDF"/>
                </a:solidFill>
                <a:latin typeface="Trebuchet MS"/>
                <a:cs typeface="Trebuchet MS"/>
              </a:rPr>
              <a:t>Obtain</a:t>
            </a:r>
            <a:r>
              <a:rPr sz="2200" b="1" spc="-12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probabilities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p</a:t>
            </a:r>
            <a:r>
              <a:rPr sz="1850" dirty="0">
                <a:solidFill>
                  <a:srgbClr val="E4DFDF"/>
                </a:solidFill>
                <a:latin typeface="Times New Roman"/>
                <a:cs typeface="Times New Roman"/>
              </a:rPr>
              <a:t>ᵢ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(x)</a:t>
            </a:r>
            <a:r>
              <a:rPr sz="1850" spc="-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Cambria Math"/>
                <a:cs typeface="Cambria Math"/>
              </a:rPr>
              <a:t>∈</a:t>
            </a:r>
            <a:r>
              <a:rPr sz="1850" spc="75" dirty="0">
                <a:solidFill>
                  <a:srgbClr val="E4DFDF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[0,1]</a:t>
            </a:r>
            <a:r>
              <a:rPr sz="1850" spc="-2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55" dirty="0">
                <a:solidFill>
                  <a:srgbClr val="E4DFDF"/>
                </a:solidFill>
                <a:latin typeface="Microsoft Sans Serif"/>
                <a:cs typeface="Microsoft Sans Serif"/>
              </a:rPr>
              <a:t>from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 sigmoid</a:t>
            </a:r>
            <a:r>
              <a:rPr sz="1850" spc="-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40" dirty="0">
                <a:solidFill>
                  <a:srgbClr val="E4DFDF"/>
                </a:solidFill>
                <a:latin typeface="Microsoft Sans Serif"/>
                <a:cs typeface="Microsoft Sans Serif"/>
              </a:rPr>
              <a:t>outputs</a:t>
            </a:r>
            <a:endParaRPr sz="18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8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Concatenate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1850" spc="-30" dirty="0">
                <a:solidFill>
                  <a:srgbClr val="E4DFDF"/>
                </a:solidFill>
                <a:latin typeface="Microsoft Sans Serif"/>
                <a:cs typeface="Microsoft Sans Serif"/>
              </a:rPr>
              <a:t>x′=[p₁,</a:t>
            </a:r>
            <a:r>
              <a:rPr sz="1850" spc="-8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p₂,</a:t>
            </a:r>
            <a:r>
              <a:rPr sz="1850" spc="-5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p₃,</a:t>
            </a:r>
            <a:r>
              <a:rPr sz="1850" spc="-6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p₄,</a:t>
            </a:r>
            <a:r>
              <a:rPr sz="1850" spc="-8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50" dirty="0">
                <a:solidFill>
                  <a:srgbClr val="E4DFDF"/>
                </a:solidFill>
                <a:latin typeface="Microsoft Sans Serif"/>
                <a:cs typeface="Microsoft Sans Serif"/>
              </a:rPr>
              <a:t>p₅]</a:t>
            </a:r>
            <a:endParaRPr sz="18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8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Standardize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Zero</a:t>
            </a:r>
            <a:r>
              <a:rPr sz="1850" spc="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25" dirty="0">
                <a:solidFill>
                  <a:srgbClr val="E4DFDF"/>
                </a:solidFill>
                <a:latin typeface="Microsoft Sans Serif"/>
                <a:cs typeface="Microsoft Sans Serif"/>
              </a:rPr>
              <a:t>mean,</a:t>
            </a:r>
            <a:r>
              <a:rPr sz="1850" spc="-1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60" dirty="0">
                <a:solidFill>
                  <a:srgbClr val="E4DFDF"/>
                </a:solidFill>
                <a:latin typeface="Microsoft Sans Serif"/>
                <a:cs typeface="Microsoft Sans Serif"/>
              </a:rPr>
              <a:t>unit</a:t>
            </a:r>
            <a:r>
              <a:rPr sz="1850" spc="-2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variance</a:t>
            </a:r>
            <a:endParaRPr sz="1850">
              <a:latin typeface="Microsoft Sans Serif"/>
              <a:cs typeface="Microsoft Sans Serif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F63464-1AE3-B854-0DA6-5FB5EB982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9656" y="7772400"/>
            <a:ext cx="2119314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29183" y="474345"/>
            <a:ext cx="3936365" cy="1299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200"/>
              </a:lnSpc>
              <a:spcBef>
                <a:spcPts val="100"/>
              </a:spcBef>
            </a:pPr>
            <a:r>
              <a:rPr sz="3900" dirty="0"/>
              <a:t>Meta-</a:t>
            </a:r>
            <a:r>
              <a:rPr sz="3900" spc="-75" dirty="0"/>
              <a:t>Learners</a:t>
            </a:r>
            <a:r>
              <a:rPr sz="3900" spc="-170" dirty="0"/>
              <a:t> </a:t>
            </a:r>
            <a:r>
              <a:rPr sz="3900" spc="-50" dirty="0"/>
              <a:t>&amp; </a:t>
            </a:r>
            <a:r>
              <a:rPr sz="3900" spc="-70" dirty="0"/>
              <a:t>Hyperparameters</a:t>
            </a:r>
            <a:endParaRPr sz="3900"/>
          </a:p>
        </p:txBody>
      </p:sp>
      <p:grpSp>
        <p:nvGrpSpPr>
          <p:cNvPr id="6" name="object 6"/>
          <p:cNvGrpSpPr/>
          <p:nvPr/>
        </p:nvGrpSpPr>
        <p:grpSpPr>
          <a:xfrm>
            <a:off x="737946" y="2143760"/>
            <a:ext cx="7668259" cy="1224915"/>
            <a:chOff x="737946" y="2143760"/>
            <a:chExt cx="7668259" cy="1224915"/>
          </a:xfrm>
        </p:grpSpPr>
        <p:sp>
          <p:nvSpPr>
            <p:cNvPr id="7" name="object 7"/>
            <p:cNvSpPr/>
            <p:nvPr/>
          </p:nvSpPr>
          <p:spPr>
            <a:xfrm>
              <a:off x="741756" y="2147570"/>
              <a:ext cx="7660640" cy="1217295"/>
            </a:xfrm>
            <a:custGeom>
              <a:avLst/>
              <a:gdLst/>
              <a:ahLst/>
              <a:cxnLst/>
              <a:rect l="l" t="t" r="r" b="b"/>
              <a:pathLst>
                <a:path w="7660640" h="1217295">
                  <a:moveTo>
                    <a:pt x="7571409" y="0"/>
                  </a:moveTo>
                  <a:lnTo>
                    <a:pt x="89026" y="0"/>
                  </a:lnTo>
                  <a:lnTo>
                    <a:pt x="54371" y="6998"/>
                  </a:lnTo>
                  <a:lnTo>
                    <a:pt x="26073" y="26082"/>
                  </a:lnTo>
                  <a:lnTo>
                    <a:pt x="6995" y="54381"/>
                  </a:lnTo>
                  <a:lnTo>
                    <a:pt x="0" y="89026"/>
                  </a:lnTo>
                  <a:lnTo>
                    <a:pt x="0" y="1127887"/>
                  </a:lnTo>
                  <a:lnTo>
                    <a:pt x="6995" y="1162532"/>
                  </a:lnTo>
                  <a:lnTo>
                    <a:pt x="26073" y="1190831"/>
                  </a:lnTo>
                  <a:lnTo>
                    <a:pt x="54371" y="1209915"/>
                  </a:lnTo>
                  <a:lnTo>
                    <a:pt x="89026" y="1216914"/>
                  </a:lnTo>
                  <a:lnTo>
                    <a:pt x="7571409" y="1216914"/>
                  </a:lnTo>
                  <a:lnTo>
                    <a:pt x="7606108" y="1209915"/>
                  </a:lnTo>
                  <a:lnTo>
                    <a:pt x="7634401" y="1190831"/>
                  </a:lnTo>
                  <a:lnTo>
                    <a:pt x="7653455" y="1162532"/>
                  </a:lnTo>
                  <a:lnTo>
                    <a:pt x="7660436" y="1127887"/>
                  </a:lnTo>
                  <a:lnTo>
                    <a:pt x="7660436" y="89026"/>
                  </a:lnTo>
                  <a:lnTo>
                    <a:pt x="7653455" y="54381"/>
                  </a:lnTo>
                  <a:lnTo>
                    <a:pt x="7634401" y="26082"/>
                  </a:lnTo>
                  <a:lnTo>
                    <a:pt x="7606108" y="6998"/>
                  </a:lnTo>
                  <a:lnTo>
                    <a:pt x="7571409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1756" y="2147570"/>
              <a:ext cx="7660640" cy="1217295"/>
            </a:xfrm>
            <a:custGeom>
              <a:avLst/>
              <a:gdLst/>
              <a:ahLst/>
              <a:cxnLst/>
              <a:rect l="l" t="t" r="r" b="b"/>
              <a:pathLst>
                <a:path w="7660640" h="1217295">
                  <a:moveTo>
                    <a:pt x="0" y="89026"/>
                  </a:moveTo>
                  <a:lnTo>
                    <a:pt x="6995" y="54381"/>
                  </a:lnTo>
                  <a:lnTo>
                    <a:pt x="26073" y="26082"/>
                  </a:lnTo>
                  <a:lnTo>
                    <a:pt x="54371" y="6998"/>
                  </a:lnTo>
                  <a:lnTo>
                    <a:pt x="89026" y="0"/>
                  </a:lnTo>
                  <a:lnTo>
                    <a:pt x="7571409" y="0"/>
                  </a:lnTo>
                  <a:lnTo>
                    <a:pt x="7606108" y="6998"/>
                  </a:lnTo>
                  <a:lnTo>
                    <a:pt x="7634401" y="26082"/>
                  </a:lnTo>
                  <a:lnTo>
                    <a:pt x="7653455" y="54381"/>
                  </a:lnTo>
                  <a:lnTo>
                    <a:pt x="7660436" y="89026"/>
                  </a:lnTo>
                  <a:lnTo>
                    <a:pt x="7660436" y="1127887"/>
                  </a:lnTo>
                  <a:lnTo>
                    <a:pt x="7653455" y="1162532"/>
                  </a:lnTo>
                  <a:lnTo>
                    <a:pt x="7634401" y="1190831"/>
                  </a:lnTo>
                  <a:lnTo>
                    <a:pt x="7606108" y="1209915"/>
                  </a:lnTo>
                  <a:lnTo>
                    <a:pt x="7571409" y="1216914"/>
                  </a:lnTo>
                  <a:lnTo>
                    <a:pt x="89026" y="1216914"/>
                  </a:lnTo>
                  <a:lnTo>
                    <a:pt x="54371" y="1209915"/>
                  </a:lnTo>
                  <a:lnTo>
                    <a:pt x="26073" y="1190831"/>
                  </a:lnTo>
                  <a:lnTo>
                    <a:pt x="6995" y="1162532"/>
                  </a:lnTo>
                  <a:lnTo>
                    <a:pt x="0" y="1127887"/>
                  </a:lnTo>
                  <a:lnTo>
                    <a:pt x="0" y="89026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48639" y="2341245"/>
            <a:ext cx="3009900" cy="770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10" dirty="0">
                <a:solidFill>
                  <a:srgbClr val="E4DFDF"/>
                </a:solidFill>
                <a:latin typeface="Trebuchet MS"/>
                <a:cs typeface="Trebuchet MS"/>
              </a:rPr>
              <a:t>Logistic</a:t>
            </a:r>
            <a:r>
              <a:rPr sz="1950" b="1" spc="-14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950" b="1" spc="-10" dirty="0">
                <a:solidFill>
                  <a:srgbClr val="E4DFDF"/>
                </a:solidFill>
                <a:latin typeface="Trebuchet MS"/>
                <a:cs typeface="Trebuchet MS"/>
              </a:rPr>
              <a:t>Regression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1650" spc="50" dirty="0">
                <a:solidFill>
                  <a:srgbClr val="E4DFDF"/>
                </a:solidFill>
                <a:latin typeface="Microsoft Sans Serif"/>
                <a:cs typeface="Microsoft Sans Serif"/>
              </a:rPr>
              <a:t>L2</a:t>
            </a:r>
            <a:r>
              <a:rPr sz="1650" spc="-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E4DFDF"/>
                </a:solidFill>
                <a:latin typeface="Microsoft Sans Serif"/>
                <a:cs typeface="Microsoft Sans Serif"/>
              </a:rPr>
              <a:t>penalty,</a:t>
            </a:r>
            <a:r>
              <a:rPr sz="1650" spc="-2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spc="-60" dirty="0">
                <a:solidFill>
                  <a:srgbClr val="E4DFDF"/>
                </a:solidFill>
                <a:latin typeface="Microsoft Sans Serif"/>
                <a:cs typeface="Microsoft Sans Serif"/>
              </a:rPr>
              <a:t>C=1.0,</a:t>
            </a:r>
            <a:r>
              <a:rPr sz="1650" spc="-2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solver='lbfgs'</a:t>
            </a:r>
            <a:endParaRPr sz="165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37946" y="3572636"/>
            <a:ext cx="7668259" cy="1224915"/>
            <a:chOff x="737946" y="3572636"/>
            <a:chExt cx="7668259" cy="1224915"/>
          </a:xfrm>
        </p:grpSpPr>
        <p:sp>
          <p:nvSpPr>
            <p:cNvPr id="11" name="object 11"/>
            <p:cNvSpPr/>
            <p:nvPr/>
          </p:nvSpPr>
          <p:spPr>
            <a:xfrm>
              <a:off x="741756" y="3576446"/>
              <a:ext cx="7660640" cy="1217295"/>
            </a:xfrm>
            <a:custGeom>
              <a:avLst/>
              <a:gdLst/>
              <a:ahLst/>
              <a:cxnLst/>
              <a:rect l="l" t="t" r="r" b="b"/>
              <a:pathLst>
                <a:path w="7660640" h="1217295">
                  <a:moveTo>
                    <a:pt x="7571409" y="0"/>
                  </a:moveTo>
                  <a:lnTo>
                    <a:pt x="89026" y="0"/>
                  </a:lnTo>
                  <a:lnTo>
                    <a:pt x="54371" y="6981"/>
                  </a:lnTo>
                  <a:lnTo>
                    <a:pt x="26073" y="26035"/>
                  </a:lnTo>
                  <a:lnTo>
                    <a:pt x="6995" y="54328"/>
                  </a:lnTo>
                  <a:lnTo>
                    <a:pt x="0" y="89026"/>
                  </a:lnTo>
                  <a:lnTo>
                    <a:pt x="0" y="1127887"/>
                  </a:lnTo>
                  <a:lnTo>
                    <a:pt x="6995" y="1162532"/>
                  </a:lnTo>
                  <a:lnTo>
                    <a:pt x="26073" y="1190831"/>
                  </a:lnTo>
                  <a:lnTo>
                    <a:pt x="54371" y="1209915"/>
                  </a:lnTo>
                  <a:lnTo>
                    <a:pt x="89026" y="1216914"/>
                  </a:lnTo>
                  <a:lnTo>
                    <a:pt x="7571409" y="1216914"/>
                  </a:lnTo>
                  <a:lnTo>
                    <a:pt x="7606108" y="1209915"/>
                  </a:lnTo>
                  <a:lnTo>
                    <a:pt x="7634401" y="1190831"/>
                  </a:lnTo>
                  <a:lnTo>
                    <a:pt x="7653455" y="1162532"/>
                  </a:lnTo>
                  <a:lnTo>
                    <a:pt x="7660436" y="1127887"/>
                  </a:lnTo>
                  <a:lnTo>
                    <a:pt x="7660436" y="89026"/>
                  </a:lnTo>
                  <a:lnTo>
                    <a:pt x="7653455" y="54328"/>
                  </a:lnTo>
                  <a:lnTo>
                    <a:pt x="7634401" y="26035"/>
                  </a:lnTo>
                  <a:lnTo>
                    <a:pt x="7606108" y="6981"/>
                  </a:lnTo>
                  <a:lnTo>
                    <a:pt x="7571409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1756" y="3576446"/>
              <a:ext cx="7660640" cy="1217295"/>
            </a:xfrm>
            <a:custGeom>
              <a:avLst/>
              <a:gdLst/>
              <a:ahLst/>
              <a:cxnLst/>
              <a:rect l="l" t="t" r="r" b="b"/>
              <a:pathLst>
                <a:path w="7660640" h="1217295">
                  <a:moveTo>
                    <a:pt x="0" y="89026"/>
                  </a:moveTo>
                  <a:lnTo>
                    <a:pt x="6995" y="54328"/>
                  </a:lnTo>
                  <a:lnTo>
                    <a:pt x="26073" y="26035"/>
                  </a:lnTo>
                  <a:lnTo>
                    <a:pt x="54371" y="6981"/>
                  </a:lnTo>
                  <a:lnTo>
                    <a:pt x="89026" y="0"/>
                  </a:lnTo>
                  <a:lnTo>
                    <a:pt x="7571409" y="0"/>
                  </a:lnTo>
                  <a:lnTo>
                    <a:pt x="7606108" y="6981"/>
                  </a:lnTo>
                  <a:lnTo>
                    <a:pt x="7634401" y="26035"/>
                  </a:lnTo>
                  <a:lnTo>
                    <a:pt x="7653455" y="54328"/>
                  </a:lnTo>
                  <a:lnTo>
                    <a:pt x="7660436" y="89026"/>
                  </a:lnTo>
                  <a:lnTo>
                    <a:pt x="7660436" y="1127887"/>
                  </a:lnTo>
                  <a:lnTo>
                    <a:pt x="7653455" y="1162532"/>
                  </a:lnTo>
                  <a:lnTo>
                    <a:pt x="7634401" y="1190831"/>
                  </a:lnTo>
                  <a:lnTo>
                    <a:pt x="7606108" y="1209915"/>
                  </a:lnTo>
                  <a:lnTo>
                    <a:pt x="7571409" y="1216914"/>
                  </a:lnTo>
                  <a:lnTo>
                    <a:pt x="89026" y="1216914"/>
                  </a:lnTo>
                  <a:lnTo>
                    <a:pt x="54371" y="1209915"/>
                  </a:lnTo>
                  <a:lnTo>
                    <a:pt x="26073" y="1190831"/>
                  </a:lnTo>
                  <a:lnTo>
                    <a:pt x="6995" y="1162532"/>
                  </a:lnTo>
                  <a:lnTo>
                    <a:pt x="0" y="1127887"/>
                  </a:lnTo>
                  <a:lnTo>
                    <a:pt x="0" y="89026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48639" y="3769817"/>
            <a:ext cx="4291330" cy="770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10" dirty="0">
                <a:solidFill>
                  <a:srgbClr val="E4DFDF"/>
                </a:solidFill>
                <a:latin typeface="Trebuchet MS"/>
                <a:cs typeface="Trebuchet MS"/>
              </a:rPr>
              <a:t>Random</a:t>
            </a:r>
            <a:r>
              <a:rPr sz="1950" b="1" spc="-15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950" b="1" spc="-10" dirty="0">
                <a:solidFill>
                  <a:srgbClr val="E4DFDF"/>
                </a:solidFill>
                <a:latin typeface="Trebuchet MS"/>
                <a:cs typeface="Trebuchet MS"/>
              </a:rPr>
              <a:t>Forest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1650" spc="125" dirty="0">
                <a:solidFill>
                  <a:srgbClr val="E4DFDF"/>
                </a:solidFill>
                <a:latin typeface="Microsoft Sans Serif"/>
                <a:cs typeface="Microsoft Sans Serif"/>
              </a:rPr>
              <a:t>200</a:t>
            </a:r>
            <a:r>
              <a:rPr sz="1650" spc="-2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E4DFDF"/>
                </a:solidFill>
                <a:latin typeface="Microsoft Sans Serif"/>
                <a:cs typeface="Microsoft Sans Serif"/>
              </a:rPr>
              <a:t>trees,</a:t>
            </a:r>
            <a:r>
              <a:rPr sz="1650" spc="-3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max_depth=10,</a:t>
            </a:r>
            <a:r>
              <a:rPr sz="1650" spc="-6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balanced</a:t>
            </a:r>
            <a:r>
              <a:rPr sz="1650" spc="-3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sampling</a:t>
            </a:r>
            <a:endParaRPr sz="165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37946" y="5001514"/>
            <a:ext cx="7668259" cy="1224915"/>
            <a:chOff x="737946" y="5001514"/>
            <a:chExt cx="7668259" cy="1224915"/>
          </a:xfrm>
        </p:grpSpPr>
        <p:sp>
          <p:nvSpPr>
            <p:cNvPr id="15" name="object 15"/>
            <p:cNvSpPr/>
            <p:nvPr/>
          </p:nvSpPr>
          <p:spPr>
            <a:xfrm>
              <a:off x="741756" y="5005324"/>
              <a:ext cx="7660640" cy="1217295"/>
            </a:xfrm>
            <a:custGeom>
              <a:avLst/>
              <a:gdLst/>
              <a:ahLst/>
              <a:cxnLst/>
              <a:rect l="l" t="t" r="r" b="b"/>
              <a:pathLst>
                <a:path w="7660640" h="1217295">
                  <a:moveTo>
                    <a:pt x="7571409" y="0"/>
                  </a:moveTo>
                  <a:lnTo>
                    <a:pt x="89026" y="0"/>
                  </a:lnTo>
                  <a:lnTo>
                    <a:pt x="54371" y="6981"/>
                  </a:lnTo>
                  <a:lnTo>
                    <a:pt x="26073" y="26034"/>
                  </a:lnTo>
                  <a:lnTo>
                    <a:pt x="6995" y="54328"/>
                  </a:lnTo>
                  <a:lnTo>
                    <a:pt x="0" y="89026"/>
                  </a:lnTo>
                  <a:lnTo>
                    <a:pt x="0" y="1127887"/>
                  </a:lnTo>
                  <a:lnTo>
                    <a:pt x="6995" y="1162532"/>
                  </a:lnTo>
                  <a:lnTo>
                    <a:pt x="26073" y="1190831"/>
                  </a:lnTo>
                  <a:lnTo>
                    <a:pt x="54371" y="1209915"/>
                  </a:lnTo>
                  <a:lnTo>
                    <a:pt x="89026" y="1216914"/>
                  </a:lnTo>
                  <a:lnTo>
                    <a:pt x="7571409" y="1216914"/>
                  </a:lnTo>
                  <a:lnTo>
                    <a:pt x="7606108" y="1209915"/>
                  </a:lnTo>
                  <a:lnTo>
                    <a:pt x="7634401" y="1190831"/>
                  </a:lnTo>
                  <a:lnTo>
                    <a:pt x="7653455" y="1162532"/>
                  </a:lnTo>
                  <a:lnTo>
                    <a:pt x="7660436" y="1127887"/>
                  </a:lnTo>
                  <a:lnTo>
                    <a:pt x="7660436" y="89026"/>
                  </a:lnTo>
                  <a:lnTo>
                    <a:pt x="7653455" y="54328"/>
                  </a:lnTo>
                  <a:lnTo>
                    <a:pt x="7634401" y="26035"/>
                  </a:lnTo>
                  <a:lnTo>
                    <a:pt x="7606108" y="6981"/>
                  </a:lnTo>
                  <a:lnTo>
                    <a:pt x="7571409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1756" y="5005324"/>
              <a:ext cx="7660640" cy="1217295"/>
            </a:xfrm>
            <a:custGeom>
              <a:avLst/>
              <a:gdLst/>
              <a:ahLst/>
              <a:cxnLst/>
              <a:rect l="l" t="t" r="r" b="b"/>
              <a:pathLst>
                <a:path w="7660640" h="1217295">
                  <a:moveTo>
                    <a:pt x="0" y="89026"/>
                  </a:moveTo>
                  <a:lnTo>
                    <a:pt x="6995" y="54328"/>
                  </a:lnTo>
                  <a:lnTo>
                    <a:pt x="26073" y="26034"/>
                  </a:lnTo>
                  <a:lnTo>
                    <a:pt x="54371" y="6981"/>
                  </a:lnTo>
                  <a:lnTo>
                    <a:pt x="89026" y="0"/>
                  </a:lnTo>
                  <a:lnTo>
                    <a:pt x="7571409" y="0"/>
                  </a:lnTo>
                  <a:lnTo>
                    <a:pt x="7606108" y="6981"/>
                  </a:lnTo>
                  <a:lnTo>
                    <a:pt x="7634401" y="26035"/>
                  </a:lnTo>
                  <a:lnTo>
                    <a:pt x="7653455" y="54328"/>
                  </a:lnTo>
                  <a:lnTo>
                    <a:pt x="7660436" y="89026"/>
                  </a:lnTo>
                  <a:lnTo>
                    <a:pt x="7660436" y="1127887"/>
                  </a:lnTo>
                  <a:lnTo>
                    <a:pt x="7653455" y="1162532"/>
                  </a:lnTo>
                  <a:lnTo>
                    <a:pt x="7634401" y="1190831"/>
                  </a:lnTo>
                  <a:lnTo>
                    <a:pt x="7606108" y="1209915"/>
                  </a:lnTo>
                  <a:lnTo>
                    <a:pt x="7571409" y="1216914"/>
                  </a:lnTo>
                  <a:lnTo>
                    <a:pt x="89026" y="1216914"/>
                  </a:lnTo>
                  <a:lnTo>
                    <a:pt x="54371" y="1209915"/>
                  </a:lnTo>
                  <a:lnTo>
                    <a:pt x="26073" y="1190831"/>
                  </a:lnTo>
                  <a:lnTo>
                    <a:pt x="6995" y="1162532"/>
                  </a:lnTo>
                  <a:lnTo>
                    <a:pt x="0" y="1127887"/>
                  </a:lnTo>
                  <a:lnTo>
                    <a:pt x="0" y="89026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48639" y="5199379"/>
            <a:ext cx="3133725" cy="7721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10" dirty="0">
                <a:solidFill>
                  <a:srgbClr val="E4DFDF"/>
                </a:solidFill>
                <a:latin typeface="Trebuchet MS"/>
                <a:cs typeface="Trebuchet MS"/>
              </a:rPr>
              <a:t>XGBoost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spc="125" dirty="0">
                <a:solidFill>
                  <a:srgbClr val="E4DFDF"/>
                </a:solidFill>
                <a:latin typeface="Microsoft Sans Serif"/>
                <a:cs typeface="Microsoft Sans Serif"/>
              </a:rPr>
              <a:t>300</a:t>
            </a:r>
            <a:r>
              <a:rPr sz="1650" dirty="0">
                <a:solidFill>
                  <a:srgbClr val="E4DFDF"/>
                </a:solidFill>
                <a:latin typeface="Microsoft Sans Serif"/>
                <a:cs typeface="Microsoft Sans Serif"/>
              </a:rPr>
              <a:t> rounds,</a:t>
            </a:r>
            <a:r>
              <a:rPr sz="1650" spc="-3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E4DFDF"/>
                </a:solidFill>
                <a:latin typeface="Microsoft Sans Serif"/>
                <a:cs typeface="Microsoft Sans Serif"/>
              </a:rPr>
              <a:t>max_depth=5,</a:t>
            </a:r>
            <a:r>
              <a:rPr sz="1650" spc="-1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E4DFDF"/>
                </a:solidFill>
                <a:latin typeface="Cambria"/>
                <a:cs typeface="Cambria"/>
              </a:rPr>
              <a:t>η</a:t>
            </a:r>
            <a:r>
              <a:rPr sz="16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=0.1</a:t>
            </a:r>
            <a:endParaRPr sz="1650">
              <a:latin typeface="Microsoft Sans Serif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37946" y="6430390"/>
            <a:ext cx="7668259" cy="1224915"/>
            <a:chOff x="737946" y="6430390"/>
            <a:chExt cx="7668259" cy="1224915"/>
          </a:xfrm>
        </p:grpSpPr>
        <p:sp>
          <p:nvSpPr>
            <p:cNvPr id="19" name="object 19"/>
            <p:cNvSpPr/>
            <p:nvPr/>
          </p:nvSpPr>
          <p:spPr>
            <a:xfrm>
              <a:off x="741756" y="6434200"/>
              <a:ext cx="7660640" cy="1217295"/>
            </a:xfrm>
            <a:custGeom>
              <a:avLst/>
              <a:gdLst/>
              <a:ahLst/>
              <a:cxnLst/>
              <a:rect l="l" t="t" r="r" b="b"/>
              <a:pathLst>
                <a:path w="7660640" h="1217295">
                  <a:moveTo>
                    <a:pt x="7571409" y="0"/>
                  </a:moveTo>
                  <a:lnTo>
                    <a:pt x="89026" y="0"/>
                  </a:lnTo>
                  <a:lnTo>
                    <a:pt x="54371" y="6979"/>
                  </a:lnTo>
                  <a:lnTo>
                    <a:pt x="26073" y="26019"/>
                  </a:lnTo>
                  <a:lnTo>
                    <a:pt x="6995" y="54274"/>
                  </a:lnTo>
                  <a:lnTo>
                    <a:pt x="0" y="88900"/>
                  </a:lnTo>
                  <a:lnTo>
                    <a:pt x="0" y="1127848"/>
                  </a:lnTo>
                  <a:lnTo>
                    <a:pt x="6995" y="1162504"/>
                  </a:lnTo>
                  <a:lnTo>
                    <a:pt x="26073" y="1190802"/>
                  </a:lnTo>
                  <a:lnTo>
                    <a:pt x="54371" y="1209880"/>
                  </a:lnTo>
                  <a:lnTo>
                    <a:pt x="89026" y="1216875"/>
                  </a:lnTo>
                  <a:lnTo>
                    <a:pt x="7571409" y="1216875"/>
                  </a:lnTo>
                  <a:lnTo>
                    <a:pt x="7606108" y="1209880"/>
                  </a:lnTo>
                  <a:lnTo>
                    <a:pt x="7634401" y="1190802"/>
                  </a:lnTo>
                  <a:lnTo>
                    <a:pt x="7653455" y="1162504"/>
                  </a:lnTo>
                  <a:lnTo>
                    <a:pt x="7660436" y="1127848"/>
                  </a:lnTo>
                  <a:lnTo>
                    <a:pt x="7660436" y="88900"/>
                  </a:lnTo>
                  <a:lnTo>
                    <a:pt x="7653455" y="54274"/>
                  </a:lnTo>
                  <a:lnTo>
                    <a:pt x="7634401" y="26019"/>
                  </a:lnTo>
                  <a:lnTo>
                    <a:pt x="7606108" y="6979"/>
                  </a:lnTo>
                  <a:lnTo>
                    <a:pt x="7571409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41756" y="6434200"/>
              <a:ext cx="7660640" cy="1217295"/>
            </a:xfrm>
            <a:custGeom>
              <a:avLst/>
              <a:gdLst/>
              <a:ahLst/>
              <a:cxnLst/>
              <a:rect l="l" t="t" r="r" b="b"/>
              <a:pathLst>
                <a:path w="7660640" h="1217295">
                  <a:moveTo>
                    <a:pt x="0" y="88900"/>
                  </a:moveTo>
                  <a:lnTo>
                    <a:pt x="6995" y="54274"/>
                  </a:lnTo>
                  <a:lnTo>
                    <a:pt x="26073" y="26019"/>
                  </a:lnTo>
                  <a:lnTo>
                    <a:pt x="54371" y="6979"/>
                  </a:lnTo>
                  <a:lnTo>
                    <a:pt x="89026" y="0"/>
                  </a:lnTo>
                  <a:lnTo>
                    <a:pt x="7571409" y="0"/>
                  </a:lnTo>
                  <a:lnTo>
                    <a:pt x="7606108" y="6979"/>
                  </a:lnTo>
                  <a:lnTo>
                    <a:pt x="7634401" y="26019"/>
                  </a:lnTo>
                  <a:lnTo>
                    <a:pt x="7653455" y="54274"/>
                  </a:lnTo>
                  <a:lnTo>
                    <a:pt x="7660436" y="88900"/>
                  </a:lnTo>
                  <a:lnTo>
                    <a:pt x="7660436" y="1127848"/>
                  </a:lnTo>
                  <a:lnTo>
                    <a:pt x="7653455" y="1162504"/>
                  </a:lnTo>
                  <a:lnTo>
                    <a:pt x="7634401" y="1190802"/>
                  </a:lnTo>
                  <a:lnTo>
                    <a:pt x="7606108" y="1209880"/>
                  </a:lnTo>
                  <a:lnTo>
                    <a:pt x="7571409" y="1216875"/>
                  </a:lnTo>
                  <a:lnTo>
                    <a:pt x="89026" y="1216875"/>
                  </a:lnTo>
                  <a:lnTo>
                    <a:pt x="54371" y="1209880"/>
                  </a:lnTo>
                  <a:lnTo>
                    <a:pt x="26073" y="1190802"/>
                  </a:lnTo>
                  <a:lnTo>
                    <a:pt x="6995" y="1162504"/>
                  </a:lnTo>
                  <a:lnTo>
                    <a:pt x="0" y="1127848"/>
                  </a:lnTo>
                  <a:lnTo>
                    <a:pt x="0" y="88900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48639" y="6628638"/>
            <a:ext cx="3215640" cy="770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40" dirty="0">
                <a:solidFill>
                  <a:srgbClr val="E4DFDF"/>
                </a:solidFill>
                <a:latin typeface="Trebuchet MS"/>
                <a:cs typeface="Trebuchet MS"/>
              </a:rPr>
              <a:t>Neural</a:t>
            </a:r>
            <a:r>
              <a:rPr sz="1950" b="1" spc="-13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950" b="1" spc="-10" dirty="0">
                <a:solidFill>
                  <a:srgbClr val="E4DFDF"/>
                </a:solidFill>
                <a:latin typeface="Trebuchet MS"/>
                <a:cs typeface="Trebuchet MS"/>
              </a:rPr>
              <a:t>Network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1650" spc="60" dirty="0">
                <a:solidFill>
                  <a:srgbClr val="E4DFDF"/>
                </a:solidFill>
                <a:latin typeface="Microsoft Sans Serif"/>
                <a:cs typeface="Microsoft Sans Serif"/>
              </a:rPr>
              <a:t>[64,</a:t>
            </a:r>
            <a:r>
              <a:rPr sz="1650" spc="-2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spc="105" dirty="0">
                <a:solidFill>
                  <a:srgbClr val="E4DFDF"/>
                </a:solidFill>
                <a:latin typeface="Microsoft Sans Serif"/>
                <a:cs typeface="Microsoft Sans Serif"/>
              </a:rPr>
              <a:t>32]</a:t>
            </a:r>
            <a:r>
              <a:rPr sz="1650" spc="-1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E4DFDF"/>
                </a:solidFill>
                <a:latin typeface="Microsoft Sans Serif"/>
                <a:cs typeface="Microsoft Sans Serif"/>
              </a:rPr>
              <a:t>units,</a:t>
            </a:r>
            <a:r>
              <a:rPr sz="1650" spc="-3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spc="-55" dirty="0">
                <a:solidFill>
                  <a:srgbClr val="E4DFDF"/>
                </a:solidFill>
                <a:latin typeface="Microsoft Sans Serif"/>
                <a:cs typeface="Microsoft Sans Serif"/>
              </a:rPr>
              <a:t>ReLU,</a:t>
            </a:r>
            <a:r>
              <a:rPr sz="1650" spc="-2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650" spc="40" dirty="0">
                <a:solidFill>
                  <a:srgbClr val="E4DFDF"/>
                </a:solidFill>
                <a:latin typeface="Microsoft Sans Serif"/>
                <a:cs typeface="Microsoft Sans Serif"/>
              </a:rPr>
              <a:t>dropout=0.5</a:t>
            </a:r>
            <a:endParaRPr sz="16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998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05"/>
              </a:spcBef>
            </a:pPr>
            <a:r>
              <a:rPr sz="4400" spc="-70" dirty="0"/>
              <a:t>Ensemble</a:t>
            </a:r>
            <a:r>
              <a:rPr sz="4400" spc="-270" dirty="0"/>
              <a:t> </a:t>
            </a:r>
            <a:r>
              <a:rPr sz="4400" spc="-100" dirty="0"/>
              <a:t>Performance</a:t>
            </a:r>
            <a:r>
              <a:rPr sz="4400" spc="-275" dirty="0"/>
              <a:t> </a:t>
            </a:r>
            <a:r>
              <a:rPr sz="4400" spc="-10" dirty="0"/>
              <a:t>Comparison</a:t>
            </a:r>
            <a:endParaRPr sz="44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3920" y="2233657"/>
          <a:ext cx="12955903" cy="4811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7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1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57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2785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sz="185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Meta-</a:t>
                      </a:r>
                      <a:r>
                        <a:rPr sz="1850" spc="-1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Model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295" marB="0">
                    <a:lnL w="9525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28395"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sz="185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Accuracy</a:t>
                      </a:r>
                      <a:r>
                        <a:rPr sz="1850" spc="1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50" spc="-25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(%)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295" marB="0"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28065"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sz="1850" spc="-25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AUC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295" marB="0">
                    <a:lnR w="952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165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5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Soft</a:t>
                      </a:r>
                      <a:r>
                        <a:rPr sz="1850" spc="114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50" spc="-1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Voting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4310" marB="0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2839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50" spc="-2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47.0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4310" marB="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2806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50" spc="6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0.50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4310" marB="0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165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5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Logistic</a:t>
                      </a:r>
                      <a:r>
                        <a:rPr sz="1850" spc="14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50" spc="-1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Regression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4310" marB="0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2839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50" spc="-2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57.6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4310" marB="0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2806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50" spc="4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0.59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4310" marB="0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165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50" spc="-2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Random</a:t>
                      </a:r>
                      <a:r>
                        <a:rPr sz="1850" spc="-8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50" spc="-1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Forest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4310" marB="0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2839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50" spc="35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65.5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4310" marB="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2806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50" spc="4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0.65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4310" marB="0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165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50" spc="-1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XGBoost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4310" marB="0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2839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50" spc="-2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64.9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4310" marB="0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2806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50" spc="-2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0.72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4310" marB="0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165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r>
                        <a:rPr sz="185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Neural</a:t>
                      </a:r>
                      <a:r>
                        <a:rPr sz="1850" spc="-5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50" spc="-1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Network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4945" marB="0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28395"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r>
                        <a:rPr sz="1850" spc="-2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66.4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4945" marB="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28065"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r>
                        <a:rPr sz="1850" spc="-2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0.67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4945" marB="0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2785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r>
                        <a:rPr sz="1850" spc="-105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RF</a:t>
                      </a:r>
                      <a:r>
                        <a:rPr sz="1850" spc="-6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50" spc="8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(5-</a:t>
                      </a:r>
                      <a:r>
                        <a:rPr sz="185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Fold</a:t>
                      </a:r>
                      <a:r>
                        <a:rPr sz="1850" spc="-45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50" spc="-25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CV)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4945" marB="0">
                    <a:lnL w="9525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28395"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r>
                        <a:rPr sz="1850" spc="-20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67.1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4945" marB="0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28065"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r>
                        <a:rPr sz="1850" spc="35" dirty="0">
                          <a:solidFill>
                            <a:srgbClr val="E4DFDF"/>
                          </a:solidFill>
                          <a:latin typeface="Microsoft Sans Serif"/>
                          <a:cs typeface="Microsoft Sans Serif"/>
                        </a:rPr>
                        <a:t>0.68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4945" marB="0">
                    <a:lnR w="9525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81B4BAD-8307-9ADF-71BD-505EDCAF9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9656" y="7772400"/>
            <a:ext cx="2119314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3551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00"/>
              </a:spcBef>
            </a:pPr>
            <a:r>
              <a:rPr sz="4400" spc="-65" dirty="0"/>
              <a:t>Confusion</a:t>
            </a:r>
            <a:r>
              <a:rPr sz="4400" spc="-295" dirty="0"/>
              <a:t> </a:t>
            </a:r>
            <a:r>
              <a:rPr sz="4400" spc="-75" dirty="0"/>
              <a:t>Matrix</a:t>
            </a:r>
            <a:r>
              <a:rPr sz="4400" spc="-285" dirty="0"/>
              <a:t> </a:t>
            </a:r>
            <a:r>
              <a:rPr sz="4400" spc="-165" dirty="0"/>
              <a:t>&amp;</a:t>
            </a:r>
            <a:r>
              <a:rPr sz="4400" spc="-254" dirty="0"/>
              <a:t> </a:t>
            </a:r>
            <a:r>
              <a:rPr sz="4400" spc="-65" dirty="0"/>
              <a:t>Calibration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1855470" y="3014852"/>
            <a:ext cx="3204210" cy="862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3129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E4DFDF"/>
                </a:solidFill>
                <a:latin typeface="Trebuchet MS"/>
                <a:cs typeface="Trebuchet MS"/>
              </a:rPr>
              <a:t>RF</a:t>
            </a:r>
            <a:r>
              <a:rPr sz="2200" b="1" spc="-13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spc="-80" dirty="0">
                <a:solidFill>
                  <a:srgbClr val="E4DFDF"/>
                </a:solidFill>
                <a:latin typeface="Trebuchet MS"/>
                <a:cs typeface="Trebuchet MS"/>
              </a:rPr>
              <a:t>&amp;</a:t>
            </a:r>
            <a:r>
              <a:rPr sz="2200" b="1" spc="-13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XGBoost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Balanced</a:t>
            </a:r>
            <a:r>
              <a:rPr sz="1850" spc="-4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85" dirty="0">
                <a:solidFill>
                  <a:srgbClr val="E4DFDF"/>
                </a:solidFill>
                <a:latin typeface="Microsoft Sans Serif"/>
                <a:cs typeface="Microsoft Sans Serif"/>
              </a:rPr>
              <a:t>FP</a:t>
            </a:r>
            <a:r>
              <a:rPr sz="1850" spc="-5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&amp;</a:t>
            </a:r>
            <a:r>
              <a:rPr sz="1850" spc="-5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55" dirty="0">
                <a:solidFill>
                  <a:srgbClr val="E4DFDF"/>
                </a:solidFill>
                <a:latin typeface="Microsoft Sans Serif"/>
                <a:cs typeface="Microsoft Sans Serif"/>
              </a:rPr>
              <a:t>FN</a:t>
            </a:r>
            <a:r>
              <a:rPr sz="1850" spc="-4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(&lt;120</a:t>
            </a:r>
            <a:r>
              <a:rPr sz="1850" spc="-4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each)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048122" y="2439098"/>
            <a:ext cx="4534535" cy="4534535"/>
            <a:chOff x="5048122" y="2439098"/>
            <a:chExt cx="4534535" cy="45345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48122" y="2439098"/>
              <a:ext cx="4534154" cy="453415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1297" y="3670160"/>
              <a:ext cx="336588" cy="42076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570466" y="3014852"/>
            <a:ext cx="3713479" cy="862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45" dirty="0">
                <a:solidFill>
                  <a:srgbClr val="E4DFDF"/>
                </a:solidFill>
                <a:latin typeface="Trebuchet MS"/>
                <a:cs typeface="Trebuchet MS"/>
              </a:rPr>
              <a:t>Neural</a:t>
            </a:r>
            <a:r>
              <a:rPr sz="2200" b="1" spc="-12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Network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Overconfident</a:t>
            </a:r>
            <a:r>
              <a:rPr sz="1850" spc="17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predictions</a:t>
            </a:r>
            <a:r>
              <a:rPr sz="1850" spc="18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near</a:t>
            </a:r>
            <a:r>
              <a:rPr sz="1850" spc="15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40" dirty="0">
                <a:solidFill>
                  <a:srgbClr val="E4DFDF"/>
                </a:solidFill>
                <a:latin typeface="Microsoft Sans Serif"/>
                <a:cs typeface="Microsoft Sans Serif"/>
              </a:rPr>
              <a:t>0/1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048122" y="2439098"/>
            <a:ext cx="4534535" cy="4534535"/>
            <a:chOff x="5048122" y="2439098"/>
            <a:chExt cx="4534535" cy="453453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48122" y="2439098"/>
              <a:ext cx="4534154" cy="453415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72297" y="3670160"/>
              <a:ext cx="336588" cy="420763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9570466" y="5461761"/>
            <a:ext cx="3404235" cy="862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Logistic</a:t>
            </a:r>
            <a:r>
              <a:rPr sz="2200" b="1" spc="-16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Regression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Ambiguous</a:t>
            </a:r>
            <a:r>
              <a:rPr sz="1850" spc="-1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50" dirty="0">
                <a:solidFill>
                  <a:srgbClr val="E4DFDF"/>
                </a:solidFill>
                <a:latin typeface="Microsoft Sans Serif"/>
                <a:cs typeface="Microsoft Sans Serif"/>
              </a:rPr>
              <a:t>outputs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430" dirty="0">
                <a:solidFill>
                  <a:srgbClr val="E4DFDF"/>
                </a:solidFill>
                <a:latin typeface="Microsoft Sans Serif"/>
                <a:cs typeface="Microsoft Sans Serif"/>
              </a:rPr>
              <a:t>→</a:t>
            </a:r>
            <a:r>
              <a:rPr sz="1850" spc="1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higher</a:t>
            </a:r>
            <a:r>
              <a:rPr sz="1850" spc="1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25" dirty="0">
                <a:solidFill>
                  <a:srgbClr val="E4DFDF"/>
                </a:solidFill>
                <a:latin typeface="Microsoft Sans Serif"/>
                <a:cs typeface="Microsoft Sans Serif"/>
              </a:rPr>
              <a:t>FN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048122" y="2439098"/>
            <a:ext cx="4534535" cy="4534535"/>
            <a:chOff x="5048122" y="2439098"/>
            <a:chExt cx="4534535" cy="453453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48122" y="2439098"/>
              <a:ext cx="4534154" cy="453415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72297" y="5321287"/>
              <a:ext cx="336588" cy="420763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604010" y="5461761"/>
            <a:ext cx="3456940" cy="862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5934" algn="ctr">
              <a:lnSpc>
                <a:spcPct val="100000"/>
              </a:lnSpc>
              <a:spcBef>
                <a:spcPts val="95"/>
              </a:spcBef>
            </a:pPr>
            <a:r>
              <a:rPr sz="2200" b="1" spc="-55" dirty="0">
                <a:solidFill>
                  <a:srgbClr val="E4DFDF"/>
                </a:solidFill>
                <a:latin typeface="Trebuchet MS"/>
                <a:cs typeface="Trebuchet MS"/>
              </a:rPr>
              <a:t>Confidence</a:t>
            </a:r>
            <a:r>
              <a:rPr sz="2200" b="1" spc="-13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E4DFDF"/>
                </a:solidFill>
                <a:latin typeface="Trebuchet MS"/>
                <a:cs typeface="Trebuchet MS"/>
              </a:rPr>
              <a:t>Histograms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1850" spc="-105" dirty="0">
                <a:solidFill>
                  <a:srgbClr val="E4DFDF"/>
                </a:solidFill>
                <a:latin typeface="Microsoft Sans Serif"/>
                <a:cs typeface="Microsoft Sans Serif"/>
              </a:rPr>
              <a:t>RF</a:t>
            </a:r>
            <a:r>
              <a:rPr sz="1850" spc="-4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bimodal</a:t>
            </a:r>
            <a:r>
              <a:rPr sz="1850" spc="-3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peaks</a:t>
            </a:r>
            <a:r>
              <a:rPr sz="1850" spc="-2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near</a:t>
            </a:r>
            <a:r>
              <a:rPr sz="1850" spc="-3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extremes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048122" y="2439098"/>
            <a:ext cx="4534535" cy="4534535"/>
            <a:chOff x="5048122" y="2439098"/>
            <a:chExt cx="4534535" cy="4534535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48122" y="2439098"/>
              <a:ext cx="4534154" cy="453415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21297" y="5321287"/>
              <a:ext cx="336588" cy="420763"/>
            </a:xfrm>
            <a:prstGeom prst="rect">
              <a:avLst/>
            </a:prstGeom>
          </p:spPr>
        </p:pic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0CF5EE55-71FF-5247-C40F-2089DD1F02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99656" y="7772400"/>
            <a:ext cx="2119314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3018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Conclusion</a:t>
            </a:r>
            <a:r>
              <a:rPr spc="-254" dirty="0"/>
              <a:t> </a:t>
            </a:r>
            <a:r>
              <a:rPr spc="-150" dirty="0"/>
              <a:t>&amp;</a:t>
            </a:r>
            <a:r>
              <a:rPr spc="-229" dirty="0"/>
              <a:t> </a:t>
            </a:r>
            <a:r>
              <a:rPr spc="-125" dirty="0"/>
              <a:t>Future</a:t>
            </a:r>
            <a:r>
              <a:rPr spc="-270" dirty="0"/>
              <a:t> </a:t>
            </a:r>
            <a:r>
              <a:rPr spc="-45" dirty="0"/>
              <a:t>Directions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223895" y="2117725"/>
            <a:ext cx="1623695" cy="1224915"/>
            <a:chOff x="3223895" y="2117725"/>
            <a:chExt cx="1623695" cy="12249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3895" y="2117725"/>
              <a:ext cx="1623313" cy="122491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3533" y="2691676"/>
              <a:ext cx="303733" cy="379691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88784" y="3354323"/>
            <a:ext cx="13032105" cy="3825240"/>
            <a:chOff x="788784" y="3354323"/>
            <a:chExt cx="13032105" cy="3825240"/>
          </a:xfrm>
        </p:grpSpPr>
        <p:sp>
          <p:nvSpPr>
            <p:cNvPr id="8" name="object 8"/>
            <p:cNvSpPr/>
            <p:nvPr/>
          </p:nvSpPr>
          <p:spPr>
            <a:xfrm>
              <a:off x="4901056" y="3354323"/>
              <a:ext cx="8919845" cy="15240"/>
            </a:xfrm>
            <a:custGeom>
              <a:avLst/>
              <a:gdLst/>
              <a:ahLst/>
              <a:cxnLst/>
              <a:rect l="l" t="t" r="r" b="b"/>
              <a:pathLst>
                <a:path w="8919844" h="15239">
                  <a:moveTo>
                    <a:pt x="8915908" y="0"/>
                  </a:moveTo>
                  <a:lnTo>
                    <a:pt x="3428" y="0"/>
                  </a:lnTo>
                  <a:lnTo>
                    <a:pt x="0" y="3428"/>
                  </a:lnTo>
                  <a:lnTo>
                    <a:pt x="0" y="7620"/>
                  </a:lnTo>
                  <a:lnTo>
                    <a:pt x="0" y="11811"/>
                  </a:lnTo>
                  <a:lnTo>
                    <a:pt x="3428" y="15239"/>
                  </a:lnTo>
                  <a:lnTo>
                    <a:pt x="8915908" y="15239"/>
                  </a:lnTo>
                  <a:lnTo>
                    <a:pt x="8919337" y="11811"/>
                  </a:lnTo>
                  <a:lnTo>
                    <a:pt x="8919337" y="3428"/>
                  </a:lnTo>
                  <a:lnTo>
                    <a:pt x="8915908" y="0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2238" y="3396614"/>
              <a:ext cx="3246755" cy="122491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83533" y="3819182"/>
              <a:ext cx="303733" cy="37969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712841" y="4633213"/>
              <a:ext cx="8107680" cy="15240"/>
            </a:xfrm>
            <a:custGeom>
              <a:avLst/>
              <a:gdLst/>
              <a:ahLst/>
              <a:cxnLst/>
              <a:rect l="l" t="t" r="r" b="b"/>
              <a:pathLst>
                <a:path w="8107680" h="15239">
                  <a:moveTo>
                    <a:pt x="8104124" y="0"/>
                  </a:moveTo>
                  <a:lnTo>
                    <a:pt x="3429" y="0"/>
                  </a:lnTo>
                  <a:lnTo>
                    <a:pt x="0" y="3428"/>
                  </a:lnTo>
                  <a:lnTo>
                    <a:pt x="0" y="7620"/>
                  </a:lnTo>
                  <a:lnTo>
                    <a:pt x="0" y="11811"/>
                  </a:lnTo>
                  <a:lnTo>
                    <a:pt x="3429" y="15239"/>
                  </a:lnTo>
                  <a:lnTo>
                    <a:pt x="8104124" y="15239"/>
                  </a:lnTo>
                  <a:lnTo>
                    <a:pt x="8107553" y="11811"/>
                  </a:lnTo>
                  <a:lnTo>
                    <a:pt x="8107553" y="3428"/>
                  </a:lnTo>
                  <a:lnTo>
                    <a:pt x="8104124" y="0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00454" y="4675504"/>
              <a:ext cx="4870069" cy="12249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83533" y="5098071"/>
              <a:ext cx="303733" cy="37969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524498" y="5912103"/>
              <a:ext cx="7296150" cy="15240"/>
            </a:xfrm>
            <a:custGeom>
              <a:avLst/>
              <a:gdLst/>
              <a:ahLst/>
              <a:cxnLst/>
              <a:rect l="l" t="t" r="r" b="b"/>
              <a:pathLst>
                <a:path w="7296150" h="15239">
                  <a:moveTo>
                    <a:pt x="7292467" y="0"/>
                  </a:moveTo>
                  <a:lnTo>
                    <a:pt x="3428" y="0"/>
                  </a:lnTo>
                  <a:lnTo>
                    <a:pt x="0" y="3302"/>
                  </a:lnTo>
                  <a:lnTo>
                    <a:pt x="0" y="7620"/>
                  </a:lnTo>
                  <a:lnTo>
                    <a:pt x="0" y="11811"/>
                  </a:lnTo>
                  <a:lnTo>
                    <a:pt x="3428" y="15240"/>
                  </a:lnTo>
                  <a:lnTo>
                    <a:pt x="7292467" y="15240"/>
                  </a:lnTo>
                  <a:lnTo>
                    <a:pt x="7295896" y="11811"/>
                  </a:lnTo>
                  <a:lnTo>
                    <a:pt x="7295896" y="3302"/>
                  </a:lnTo>
                  <a:lnTo>
                    <a:pt x="7292467" y="0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8784" y="5954318"/>
              <a:ext cx="6493510" cy="122491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83533" y="6376834"/>
              <a:ext cx="303733" cy="379691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Best</a:t>
            </a:r>
            <a:r>
              <a:rPr spc="-75" dirty="0"/>
              <a:t> </a:t>
            </a:r>
            <a:r>
              <a:rPr spc="-10" dirty="0"/>
              <a:t>Model</a:t>
            </a: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sz="1700" b="0" spc="-105" dirty="0">
                <a:latin typeface="Microsoft Sans Serif"/>
                <a:cs typeface="Microsoft Sans Serif"/>
              </a:rPr>
              <a:t>RF</a:t>
            </a:r>
            <a:r>
              <a:rPr sz="1700" b="0" spc="-10" dirty="0">
                <a:latin typeface="Microsoft Sans Serif"/>
                <a:cs typeface="Microsoft Sans Serif"/>
              </a:rPr>
              <a:t> </a:t>
            </a:r>
            <a:r>
              <a:rPr sz="1700" b="0" dirty="0">
                <a:latin typeface="Microsoft Sans Serif"/>
                <a:cs typeface="Microsoft Sans Serif"/>
              </a:rPr>
              <a:t>stacked</a:t>
            </a:r>
            <a:r>
              <a:rPr sz="1700" b="0" spc="-25" dirty="0">
                <a:latin typeface="Microsoft Sans Serif"/>
                <a:cs typeface="Microsoft Sans Serif"/>
              </a:rPr>
              <a:t> </a:t>
            </a:r>
            <a:r>
              <a:rPr sz="1700" b="0" spc="50" dirty="0">
                <a:latin typeface="Microsoft Sans Serif"/>
                <a:cs typeface="Microsoft Sans Serif"/>
              </a:rPr>
              <a:t>with</a:t>
            </a:r>
            <a:r>
              <a:rPr sz="1700" b="0" spc="5" dirty="0">
                <a:latin typeface="Microsoft Sans Serif"/>
                <a:cs typeface="Microsoft Sans Serif"/>
              </a:rPr>
              <a:t> </a:t>
            </a:r>
            <a:r>
              <a:rPr sz="1700" b="0" spc="105" dirty="0">
                <a:latin typeface="Microsoft Sans Serif"/>
                <a:cs typeface="Microsoft Sans Serif"/>
              </a:rPr>
              <a:t>5-</a:t>
            </a:r>
            <a:r>
              <a:rPr sz="1700" b="0" dirty="0">
                <a:latin typeface="Microsoft Sans Serif"/>
                <a:cs typeface="Microsoft Sans Serif"/>
              </a:rPr>
              <a:t>fold</a:t>
            </a:r>
            <a:r>
              <a:rPr sz="1700" b="0" spc="-20" dirty="0">
                <a:latin typeface="Microsoft Sans Serif"/>
                <a:cs typeface="Microsoft Sans Serif"/>
              </a:rPr>
              <a:t> </a:t>
            </a:r>
            <a:r>
              <a:rPr sz="1700" b="0" spc="-25" dirty="0">
                <a:latin typeface="Microsoft Sans Serif"/>
                <a:cs typeface="Microsoft Sans Serif"/>
              </a:rPr>
              <a:t>CV</a:t>
            </a:r>
            <a:endParaRPr sz="17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7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700">
              <a:latin typeface="Microsoft Sans Serif"/>
              <a:cs typeface="Microsoft Sans Serif"/>
            </a:endParaRPr>
          </a:p>
          <a:p>
            <a:pPr marL="824230">
              <a:lnSpc>
                <a:spcPct val="100000"/>
              </a:lnSpc>
            </a:pPr>
            <a:r>
              <a:rPr dirty="0"/>
              <a:t>Key</a:t>
            </a:r>
            <a:r>
              <a:rPr spc="-150" dirty="0"/>
              <a:t> </a:t>
            </a:r>
            <a:r>
              <a:rPr spc="-10" dirty="0"/>
              <a:t>Takeaway</a:t>
            </a:r>
          </a:p>
          <a:p>
            <a:pPr marL="824230">
              <a:lnSpc>
                <a:spcPct val="100000"/>
              </a:lnSpc>
              <a:spcBef>
                <a:spcPts val="1565"/>
              </a:spcBef>
            </a:pPr>
            <a:r>
              <a:rPr sz="1700" b="0" dirty="0">
                <a:latin typeface="Microsoft Sans Serif"/>
                <a:cs typeface="Microsoft Sans Serif"/>
              </a:rPr>
              <a:t>Meta-</a:t>
            </a:r>
            <a:r>
              <a:rPr sz="1700" b="0" spc="-20" dirty="0">
                <a:latin typeface="Microsoft Sans Serif"/>
                <a:cs typeface="Microsoft Sans Serif"/>
              </a:rPr>
              <a:t>ensembles</a:t>
            </a:r>
            <a:r>
              <a:rPr sz="1700" b="0" spc="-5" dirty="0">
                <a:latin typeface="Microsoft Sans Serif"/>
                <a:cs typeface="Microsoft Sans Serif"/>
              </a:rPr>
              <a:t> </a:t>
            </a:r>
            <a:r>
              <a:rPr sz="1700" b="0" dirty="0">
                <a:latin typeface="Microsoft Sans Serif"/>
                <a:cs typeface="Microsoft Sans Serif"/>
              </a:rPr>
              <a:t>boost</a:t>
            </a:r>
            <a:r>
              <a:rPr sz="1700" b="0" spc="35" dirty="0">
                <a:latin typeface="Microsoft Sans Serif"/>
                <a:cs typeface="Microsoft Sans Serif"/>
              </a:rPr>
              <a:t> </a:t>
            </a:r>
            <a:r>
              <a:rPr sz="1700" b="0" dirty="0">
                <a:latin typeface="Microsoft Sans Serif"/>
                <a:cs typeface="Microsoft Sans Serif"/>
              </a:rPr>
              <a:t>accuracy</a:t>
            </a:r>
            <a:r>
              <a:rPr sz="1700" b="0" spc="45" dirty="0">
                <a:latin typeface="Microsoft Sans Serif"/>
                <a:cs typeface="Microsoft Sans Serif"/>
              </a:rPr>
              <a:t> </a:t>
            </a:r>
            <a:r>
              <a:rPr sz="1700" b="0" spc="-40" dirty="0">
                <a:latin typeface="Microsoft Sans Serif"/>
                <a:cs typeface="Microsoft Sans Serif"/>
              </a:rPr>
              <a:t>15-</a:t>
            </a:r>
            <a:r>
              <a:rPr sz="1700" b="0" spc="110" dirty="0">
                <a:latin typeface="Microsoft Sans Serif"/>
                <a:cs typeface="Microsoft Sans Serif"/>
              </a:rPr>
              <a:t>20</a:t>
            </a:r>
            <a:r>
              <a:rPr sz="1700" b="0" spc="25" dirty="0">
                <a:latin typeface="Microsoft Sans Serif"/>
                <a:cs typeface="Microsoft Sans Serif"/>
              </a:rPr>
              <a:t> </a:t>
            </a:r>
            <a:r>
              <a:rPr sz="1700" b="0" spc="-25" dirty="0">
                <a:latin typeface="Microsoft Sans Serif"/>
                <a:cs typeface="Microsoft Sans Serif"/>
              </a:rPr>
              <a:t>pp</a:t>
            </a:r>
            <a:endParaRPr sz="17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7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700">
              <a:latin typeface="Microsoft Sans Serif"/>
              <a:cs typeface="Microsoft Sans Serif"/>
            </a:endParaRPr>
          </a:p>
          <a:p>
            <a:pPr marL="1635760">
              <a:lnSpc>
                <a:spcPct val="100000"/>
              </a:lnSpc>
            </a:pPr>
            <a:r>
              <a:rPr spc="-65" dirty="0"/>
              <a:t>Future</a:t>
            </a:r>
            <a:r>
              <a:rPr spc="-125" dirty="0"/>
              <a:t> </a:t>
            </a:r>
            <a:r>
              <a:rPr spc="-20" dirty="0"/>
              <a:t>Work</a:t>
            </a:r>
          </a:p>
          <a:p>
            <a:pPr marL="1635760">
              <a:lnSpc>
                <a:spcPct val="100000"/>
              </a:lnSpc>
              <a:spcBef>
                <a:spcPts val="1565"/>
              </a:spcBef>
            </a:pPr>
            <a:r>
              <a:rPr sz="1700" b="0" dirty="0">
                <a:latin typeface="Microsoft Sans Serif"/>
                <a:cs typeface="Microsoft Sans Serif"/>
              </a:rPr>
              <a:t>Domain-specific</a:t>
            </a:r>
            <a:r>
              <a:rPr sz="1700" b="0" spc="30" dirty="0">
                <a:latin typeface="Microsoft Sans Serif"/>
                <a:cs typeface="Microsoft Sans Serif"/>
              </a:rPr>
              <a:t> </a:t>
            </a:r>
            <a:r>
              <a:rPr sz="1700" b="0" dirty="0">
                <a:latin typeface="Microsoft Sans Serif"/>
                <a:cs typeface="Microsoft Sans Serif"/>
              </a:rPr>
              <a:t>augmentations,</a:t>
            </a:r>
            <a:r>
              <a:rPr sz="1700" b="0" spc="35" dirty="0">
                <a:latin typeface="Microsoft Sans Serif"/>
                <a:cs typeface="Microsoft Sans Serif"/>
              </a:rPr>
              <a:t> </a:t>
            </a:r>
            <a:r>
              <a:rPr sz="1700" b="0" spc="65" dirty="0">
                <a:latin typeface="Microsoft Sans Serif"/>
                <a:cs typeface="Microsoft Sans Serif"/>
              </a:rPr>
              <a:t>multi-</a:t>
            </a:r>
            <a:r>
              <a:rPr sz="1700" b="0" dirty="0">
                <a:latin typeface="Microsoft Sans Serif"/>
                <a:cs typeface="Microsoft Sans Serif"/>
              </a:rPr>
              <a:t>modal</a:t>
            </a:r>
            <a:r>
              <a:rPr sz="1700" b="0" spc="35" dirty="0">
                <a:latin typeface="Microsoft Sans Serif"/>
                <a:cs typeface="Microsoft Sans Serif"/>
              </a:rPr>
              <a:t> </a:t>
            </a:r>
            <a:r>
              <a:rPr sz="1700" b="0" spc="-10" dirty="0">
                <a:latin typeface="Microsoft Sans Serif"/>
                <a:cs typeface="Microsoft Sans Serif"/>
              </a:rPr>
              <a:t>fusion</a:t>
            </a:r>
            <a:endParaRPr sz="17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7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700">
              <a:latin typeface="Microsoft Sans Serif"/>
              <a:cs typeface="Microsoft Sans Serif"/>
            </a:endParaRPr>
          </a:p>
          <a:p>
            <a:pPr marL="2447925">
              <a:lnSpc>
                <a:spcPct val="100000"/>
              </a:lnSpc>
            </a:pPr>
            <a:r>
              <a:rPr dirty="0"/>
              <a:t>Long-</a:t>
            </a:r>
            <a:r>
              <a:rPr spc="-75" dirty="0"/>
              <a:t>Term</a:t>
            </a:r>
            <a:r>
              <a:rPr spc="10" dirty="0"/>
              <a:t> </a:t>
            </a:r>
            <a:r>
              <a:rPr spc="-20" dirty="0"/>
              <a:t>Goal</a:t>
            </a:r>
          </a:p>
          <a:p>
            <a:pPr marL="2447925">
              <a:lnSpc>
                <a:spcPct val="100000"/>
              </a:lnSpc>
              <a:spcBef>
                <a:spcPts val="1565"/>
              </a:spcBef>
            </a:pPr>
            <a:r>
              <a:rPr sz="1700" b="0" spc="-10" dirty="0">
                <a:latin typeface="Microsoft Sans Serif"/>
                <a:cs typeface="Microsoft Sans Serif"/>
              </a:rPr>
              <a:t>Real-</a:t>
            </a:r>
            <a:r>
              <a:rPr sz="1700" b="0" dirty="0">
                <a:latin typeface="Microsoft Sans Serif"/>
                <a:cs typeface="Microsoft Sans Serif"/>
              </a:rPr>
              <a:t>time,</a:t>
            </a:r>
            <a:r>
              <a:rPr sz="1700" b="0" spc="50" dirty="0">
                <a:latin typeface="Microsoft Sans Serif"/>
                <a:cs typeface="Microsoft Sans Serif"/>
              </a:rPr>
              <a:t> </a:t>
            </a:r>
            <a:r>
              <a:rPr sz="1700" b="0" dirty="0">
                <a:latin typeface="Microsoft Sans Serif"/>
                <a:cs typeface="Microsoft Sans Serif"/>
              </a:rPr>
              <a:t>edge-deployable</a:t>
            </a:r>
            <a:r>
              <a:rPr sz="1700" b="0" spc="20" dirty="0">
                <a:latin typeface="Microsoft Sans Serif"/>
                <a:cs typeface="Microsoft Sans Serif"/>
              </a:rPr>
              <a:t> </a:t>
            </a:r>
            <a:r>
              <a:rPr sz="1700" b="0" dirty="0">
                <a:latin typeface="Microsoft Sans Serif"/>
                <a:cs typeface="Microsoft Sans Serif"/>
              </a:rPr>
              <a:t>detector</a:t>
            </a:r>
            <a:r>
              <a:rPr sz="1700" b="0" spc="15" dirty="0">
                <a:latin typeface="Microsoft Sans Serif"/>
                <a:cs typeface="Microsoft Sans Serif"/>
              </a:rPr>
              <a:t> </a:t>
            </a:r>
            <a:r>
              <a:rPr sz="1700" b="0" spc="50" dirty="0">
                <a:latin typeface="Microsoft Sans Serif"/>
                <a:cs typeface="Microsoft Sans Serif"/>
              </a:rPr>
              <a:t>with</a:t>
            </a:r>
            <a:r>
              <a:rPr sz="1700" b="0" spc="60" dirty="0">
                <a:latin typeface="Microsoft Sans Serif"/>
                <a:cs typeface="Microsoft Sans Serif"/>
              </a:rPr>
              <a:t> </a:t>
            </a:r>
            <a:r>
              <a:rPr sz="1700" b="0" spc="65" dirty="0">
                <a:latin typeface="Microsoft Sans Serif"/>
                <a:cs typeface="Microsoft Sans Serif"/>
              </a:rPr>
              <a:t>≥90%</a:t>
            </a:r>
            <a:r>
              <a:rPr sz="1700" b="0" spc="25" dirty="0">
                <a:latin typeface="Microsoft Sans Serif"/>
                <a:cs typeface="Microsoft Sans Serif"/>
              </a:rPr>
              <a:t> </a:t>
            </a:r>
            <a:r>
              <a:rPr sz="1700" b="0" spc="-10" dirty="0">
                <a:latin typeface="Microsoft Sans Serif"/>
                <a:cs typeface="Microsoft Sans Serif"/>
              </a:rPr>
              <a:t>accuracy</a:t>
            </a:r>
            <a:endParaRPr sz="1700">
              <a:latin typeface="Microsoft Sans Serif"/>
              <a:cs typeface="Microsoft Sans Serif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2944EF1-3618-FE54-FDD2-D74EFAF345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99656" y="7772400"/>
            <a:ext cx="2119314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9921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25195" y="4827523"/>
            <a:ext cx="26892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14" dirty="0">
                <a:solidFill>
                  <a:srgbClr val="FFFFFF"/>
                </a:solidFill>
                <a:latin typeface="Trebuchet MS"/>
                <a:cs typeface="Trebuchet MS"/>
              </a:rPr>
              <a:t>Thank</a:t>
            </a:r>
            <a:r>
              <a:rPr sz="4400" b="1" spc="-3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00" b="1" spc="-25" dirty="0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195" y="5982080"/>
            <a:ext cx="12044045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130" dirty="0">
                <a:solidFill>
                  <a:srgbClr val="E4DFDF"/>
                </a:solidFill>
                <a:latin typeface="Microsoft Sans Serif"/>
                <a:cs typeface="Microsoft Sans Serif"/>
              </a:rPr>
              <a:t>We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appreciate</a:t>
            </a:r>
            <a:r>
              <a:rPr sz="1850" spc="4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your</a:t>
            </a:r>
            <a:r>
              <a:rPr sz="1850" spc="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55" dirty="0">
                <a:solidFill>
                  <a:srgbClr val="E4DFDF"/>
                </a:solidFill>
                <a:latin typeface="Microsoft Sans Serif"/>
                <a:cs typeface="Microsoft Sans Serif"/>
              </a:rPr>
              <a:t>attention</a:t>
            </a:r>
            <a:r>
              <a:rPr sz="1850" spc="1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and interest. </a:t>
            </a:r>
            <a:r>
              <a:rPr sz="1850" spc="-30" dirty="0">
                <a:solidFill>
                  <a:srgbClr val="E4DFDF"/>
                </a:solidFill>
                <a:latin typeface="Microsoft Sans Serif"/>
                <a:cs typeface="Microsoft Sans Serif"/>
              </a:rPr>
              <a:t>Please</a:t>
            </a:r>
            <a:r>
              <a:rPr sz="1850" spc="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feel</a:t>
            </a:r>
            <a:r>
              <a:rPr sz="1850" spc="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free </a:t>
            </a:r>
            <a:r>
              <a:rPr sz="1850" spc="90" dirty="0">
                <a:solidFill>
                  <a:srgbClr val="E4DFDF"/>
                </a:solidFill>
                <a:latin typeface="Microsoft Sans Serif"/>
                <a:cs typeface="Microsoft Sans Serif"/>
              </a:rPr>
              <a:t>to</a:t>
            </a:r>
            <a:r>
              <a:rPr sz="1850" spc="1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ask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any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questions</a:t>
            </a:r>
            <a:r>
              <a:rPr sz="1850" spc="-15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or reach </a:t>
            </a:r>
            <a:r>
              <a:rPr sz="1850" spc="65" dirty="0">
                <a:solidFill>
                  <a:srgbClr val="E4DFDF"/>
                </a:solidFill>
                <a:latin typeface="Microsoft Sans Serif"/>
                <a:cs typeface="Microsoft Sans Serif"/>
              </a:rPr>
              <a:t>out</a:t>
            </a:r>
            <a:r>
              <a:rPr sz="185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70" dirty="0">
                <a:solidFill>
                  <a:srgbClr val="E4DFDF"/>
                </a:solidFill>
                <a:latin typeface="Microsoft Sans Serif"/>
                <a:cs typeface="Microsoft Sans Serif"/>
              </a:rPr>
              <a:t>for</a:t>
            </a:r>
            <a:r>
              <a:rPr sz="1850" spc="10" dirty="0">
                <a:solidFill>
                  <a:srgbClr val="E4DFDF"/>
                </a:solidFill>
                <a:latin typeface="Microsoft Sans Serif"/>
                <a:cs typeface="Microsoft Sans Serif"/>
              </a:rPr>
              <a:t> </a:t>
            </a:r>
            <a:r>
              <a:rPr sz="1850" spc="65" dirty="0">
                <a:solidFill>
                  <a:srgbClr val="E4DFDF"/>
                </a:solidFill>
                <a:latin typeface="Microsoft Sans Serif"/>
                <a:cs typeface="Microsoft Sans Serif"/>
              </a:rPr>
              <a:t>further</a:t>
            </a:r>
            <a:r>
              <a:rPr sz="1850" spc="-10" dirty="0">
                <a:solidFill>
                  <a:srgbClr val="E4DFDF"/>
                </a:solidFill>
                <a:latin typeface="Microsoft Sans Serif"/>
                <a:cs typeface="Microsoft Sans Serif"/>
              </a:rPr>
              <a:t> discussion.</a:t>
            </a:r>
            <a:endParaRPr sz="1850">
              <a:latin typeface="Microsoft Sans Serif"/>
              <a:cs typeface="Microsoft Sans Serif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04292A-430A-1A1B-4C14-E8D7068A0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9656" y="7772400"/>
            <a:ext cx="2119314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Words>580</Words>
  <Application>Microsoft Office PowerPoint</Application>
  <PresentationFormat>Custom</PresentationFormat>
  <Paragraphs>177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Cambria</vt:lpstr>
      <vt:lpstr>Cambria Math</vt:lpstr>
      <vt:lpstr>Microsoft Sans Serif</vt:lpstr>
      <vt:lpstr>Times New Roman</vt:lpstr>
      <vt:lpstr>Trebuchet MS</vt:lpstr>
      <vt:lpstr>Office Theme</vt:lpstr>
      <vt:lpstr>Ensemble-Based Deepfake Detection Using Multi- Backbone CNNs &amp; Meta- Learning</vt:lpstr>
      <vt:lpstr>Motivation</vt:lpstr>
      <vt:lpstr>Project Objectives</vt:lpstr>
      <vt:lpstr>Real-World Applications</vt:lpstr>
      <vt:lpstr>Dataset &amp; Preprocessing</vt:lpstr>
      <vt:lpstr>Data Augmentation Techniques</vt:lpstr>
      <vt:lpstr>CNN Backbones Overview</vt:lpstr>
      <vt:lpstr>Fine-Tuning Strategy</vt:lpstr>
      <vt:lpstr>Soft-Voting Ensemble</vt:lpstr>
      <vt:lpstr>PowerPoint Presentation</vt:lpstr>
      <vt:lpstr>Meta-Feature Construction</vt:lpstr>
      <vt:lpstr>Meta-Learners &amp; Hyperparameters</vt:lpstr>
      <vt:lpstr>Ensemble Performance Comparison</vt:lpstr>
      <vt:lpstr>Confusion Matrix &amp; Calibration</vt:lpstr>
      <vt:lpstr>Conclusion &amp; Future Directions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AYUSH GUPTA</cp:lastModifiedBy>
  <cp:revision>2</cp:revision>
  <dcterms:created xsi:type="dcterms:W3CDTF">2025-05-01T19:53:03Z</dcterms:created>
  <dcterms:modified xsi:type="dcterms:W3CDTF">2025-05-02T07:00:41Z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2025-05-02T00:00:00Z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2025-05-01T00:00:00Z</vt:filetime>
  </property>
  <property fmtid="{D5CDD505-2E9C-101B-9397-08002B2CF9AE}" pid="5" name="Producer">
    <vt:lpwstr>Microsoft® PowerPoint® 2019</vt:lpwstr>
  </property>
</Properties>
</file>